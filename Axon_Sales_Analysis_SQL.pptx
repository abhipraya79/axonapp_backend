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12192000"/>
  <p:notesSz cx="12192000" cy="6858000"/>
  <p:embeddedFontLst>
    <p:embeddedFont>
      <p:font typeface="Corben"/>
      <p:bold r:id="rId27"/>
    </p:embeddedFont>
    <p:embeddedFont>
      <p:font typeface="Century Gothic"/>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32" roundtripDataSignature="AMtx7mjVHRkSBaqJWcRBfH9qVxmzyLUa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CenturyGothic-regular.fntdata"/><Relationship Id="rId27" Type="http://schemas.openxmlformats.org/officeDocument/2006/relationships/font" Target="fonts/Corben-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enturyGothic-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CenturyGothic-boldItalic.fntdata"/><Relationship Id="rId30" Type="http://schemas.openxmlformats.org/officeDocument/2006/relationships/font" Target="fonts/CenturyGothic-italic.fntdata"/><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type="obj">
  <p:cSld name="OBJECT">
    <p:bg>
      <p:bgPr>
        <a:solidFill>
          <a:schemeClr val="lt1"/>
        </a:solidFill>
      </p:bgPr>
    </p:bg>
    <p:spTree>
      <p:nvGrpSpPr>
        <p:cNvPr id="13" name="Shape 13"/>
        <p:cNvGrpSpPr/>
        <p:nvPr/>
      </p:nvGrpSpPr>
      <p:grpSpPr>
        <a:xfrm>
          <a:off x="0" y="0"/>
          <a:ext cx="0" cy="0"/>
          <a:chOff x="0" y="0"/>
          <a:chExt cx="0" cy="0"/>
        </a:xfrm>
      </p:grpSpPr>
      <p:sp>
        <p:nvSpPr>
          <p:cNvPr id="14" name="Google Shape;14;p23"/>
          <p:cNvSpPr/>
          <p:nvPr/>
        </p:nvSpPr>
        <p:spPr>
          <a:xfrm>
            <a:off x="0" y="499872"/>
            <a:ext cx="192405" cy="5687695"/>
          </a:xfrm>
          <a:custGeom>
            <a:rect b="b" l="l" r="r" t="t"/>
            <a:pathLst>
              <a:path extrusionOk="0" h="5687695" w="192405">
                <a:moveTo>
                  <a:pt x="192024" y="0"/>
                </a:moveTo>
                <a:lnTo>
                  <a:pt x="0" y="0"/>
                </a:lnTo>
                <a:lnTo>
                  <a:pt x="0" y="5687568"/>
                </a:lnTo>
                <a:lnTo>
                  <a:pt x="192024" y="5687568"/>
                </a:lnTo>
                <a:lnTo>
                  <a:pt x="192024" y="0"/>
                </a:lnTo>
                <a:close/>
              </a:path>
            </a:pathLst>
          </a:custGeom>
          <a:solidFill>
            <a:srgbClr val="EC7C3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 name="Google Shape;15;p23"/>
          <p:cNvSpPr txBox="1"/>
          <p:nvPr>
            <p:ph type="title"/>
          </p:nvPr>
        </p:nvSpPr>
        <p:spPr>
          <a:xfrm>
            <a:off x="10022078" y="118694"/>
            <a:ext cx="1334770" cy="84899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700">
                <a:solidFill>
                  <a:srgbClr val="C14733"/>
                </a:solidFill>
                <a:latin typeface="Corben"/>
                <a:ea typeface="Corben"/>
                <a:cs typeface="Corben"/>
                <a:sym typeface="Corbe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3"/>
          <p:cNvSpPr txBox="1"/>
          <p:nvPr>
            <p:ph idx="1" type="body"/>
          </p:nvPr>
        </p:nvSpPr>
        <p:spPr>
          <a:xfrm>
            <a:off x="851408" y="2267889"/>
            <a:ext cx="5517515" cy="3684904"/>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1" i="0" sz="2000">
                <a:solidFill>
                  <a:schemeClr val="dk1"/>
                </a:solidFill>
                <a:latin typeface="Arial Rounded"/>
                <a:ea typeface="Arial Rounded"/>
                <a:cs typeface="Arial Rounded"/>
                <a:sym typeface="Arial Rounded"/>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7" name="Google Shape;17;p2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solidFill>
          <a:schemeClr val="lt1"/>
        </a:solidFill>
      </p:bgPr>
    </p:bg>
    <p:spTree>
      <p:nvGrpSpPr>
        <p:cNvPr id="20" name="Shape 20"/>
        <p:cNvGrpSpPr/>
        <p:nvPr/>
      </p:nvGrpSpPr>
      <p:grpSpPr>
        <a:xfrm>
          <a:off x="0" y="0"/>
          <a:ext cx="0" cy="0"/>
          <a:chOff x="0" y="0"/>
          <a:chExt cx="0" cy="0"/>
        </a:xfrm>
      </p:grpSpPr>
      <p:sp>
        <p:nvSpPr>
          <p:cNvPr id="21" name="Google Shape;21;p24"/>
          <p:cNvSpPr txBox="1"/>
          <p:nvPr>
            <p:ph type="title"/>
          </p:nvPr>
        </p:nvSpPr>
        <p:spPr>
          <a:xfrm>
            <a:off x="10022078" y="118694"/>
            <a:ext cx="1334770" cy="84899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700">
                <a:solidFill>
                  <a:srgbClr val="C14733"/>
                </a:solidFill>
                <a:latin typeface="Corben"/>
                <a:ea typeface="Corben"/>
                <a:cs typeface="Corben"/>
                <a:sym typeface="Corbe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5" name="Shape 25"/>
        <p:cNvGrpSpPr/>
        <p:nvPr/>
      </p:nvGrpSpPr>
      <p:grpSpPr>
        <a:xfrm>
          <a:off x="0" y="0"/>
          <a:ext cx="0" cy="0"/>
          <a:chOff x="0" y="0"/>
          <a:chExt cx="0" cy="0"/>
        </a:xfrm>
      </p:grpSpPr>
      <p:sp>
        <p:nvSpPr>
          <p:cNvPr id="26" name="Google Shape;26;p25"/>
          <p:cNvSpPr txBox="1"/>
          <p:nvPr>
            <p:ph type="ctrTitle"/>
          </p:nvPr>
        </p:nvSpPr>
        <p:spPr>
          <a:xfrm>
            <a:off x="835151" y="118694"/>
            <a:ext cx="10521696" cy="84899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700">
                <a:solidFill>
                  <a:srgbClr val="C14733"/>
                </a:solidFill>
                <a:latin typeface="Corben"/>
                <a:ea typeface="Corben"/>
                <a:cs typeface="Corben"/>
                <a:sym typeface="Corbe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5"/>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1" name="Shape 31"/>
        <p:cNvGrpSpPr/>
        <p:nvPr/>
      </p:nvGrpSpPr>
      <p:grpSpPr>
        <a:xfrm>
          <a:off x="0" y="0"/>
          <a:ext cx="0" cy="0"/>
          <a:chOff x="0" y="0"/>
          <a:chExt cx="0" cy="0"/>
        </a:xfrm>
      </p:grpSpPr>
      <p:sp>
        <p:nvSpPr>
          <p:cNvPr id="32" name="Google Shape;32;p26"/>
          <p:cNvSpPr txBox="1"/>
          <p:nvPr>
            <p:ph type="title"/>
          </p:nvPr>
        </p:nvSpPr>
        <p:spPr>
          <a:xfrm>
            <a:off x="10022078" y="118694"/>
            <a:ext cx="1334770" cy="84899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700">
                <a:solidFill>
                  <a:srgbClr val="C14733"/>
                </a:solidFill>
                <a:latin typeface="Corben"/>
                <a:ea typeface="Corben"/>
                <a:cs typeface="Corben"/>
                <a:sym typeface="Corbe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6"/>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26"/>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 name="Google Shape;35;p2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8" name="Shape 38"/>
        <p:cNvGrpSpPr/>
        <p:nvPr/>
      </p:nvGrpSpPr>
      <p:grpSpPr>
        <a:xfrm>
          <a:off x="0" y="0"/>
          <a:ext cx="0" cy="0"/>
          <a:chOff x="0" y="0"/>
          <a:chExt cx="0" cy="0"/>
        </a:xfrm>
      </p:grpSpPr>
      <p:sp>
        <p:nvSpPr>
          <p:cNvPr id="39" name="Google Shape;39;p2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7"/>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2"/>
          <p:cNvSpPr/>
          <p:nvPr/>
        </p:nvSpPr>
        <p:spPr>
          <a:xfrm>
            <a:off x="0" y="499872"/>
            <a:ext cx="192405" cy="5687695"/>
          </a:xfrm>
          <a:custGeom>
            <a:rect b="b" l="l" r="r" t="t"/>
            <a:pathLst>
              <a:path extrusionOk="0" h="5687695" w="192405">
                <a:moveTo>
                  <a:pt x="192024" y="0"/>
                </a:moveTo>
                <a:lnTo>
                  <a:pt x="0" y="0"/>
                </a:lnTo>
                <a:lnTo>
                  <a:pt x="0" y="5687568"/>
                </a:lnTo>
                <a:lnTo>
                  <a:pt x="192024" y="5687568"/>
                </a:lnTo>
                <a:lnTo>
                  <a:pt x="192024" y="0"/>
                </a:lnTo>
                <a:close/>
              </a:path>
            </a:pathLst>
          </a:custGeom>
          <a:solidFill>
            <a:srgbClr val="EC7C3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7" name="Google Shape;7;p22"/>
          <p:cNvPicPr preferRelativeResize="0"/>
          <p:nvPr/>
        </p:nvPicPr>
        <p:blipFill rotWithShape="1">
          <a:blip r:embed="rId1">
            <a:alphaModFix/>
          </a:blip>
          <a:srcRect b="0" l="0" r="0" t="0"/>
          <a:stretch/>
        </p:blipFill>
        <p:spPr>
          <a:xfrm>
            <a:off x="582168" y="499872"/>
            <a:ext cx="11027664" cy="5687568"/>
          </a:xfrm>
          <a:prstGeom prst="rect">
            <a:avLst/>
          </a:prstGeom>
          <a:noFill/>
          <a:ln>
            <a:noFill/>
          </a:ln>
        </p:spPr>
      </p:pic>
      <p:sp>
        <p:nvSpPr>
          <p:cNvPr id="8" name="Google Shape;8;p22"/>
          <p:cNvSpPr txBox="1"/>
          <p:nvPr>
            <p:ph type="title"/>
          </p:nvPr>
        </p:nvSpPr>
        <p:spPr>
          <a:xfrm>
            <a:off x="10022078" y="118694"/>
            <a:ext cx="1334770" cy="848994"/>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700" u="none" cap="none" strike="noStrike">
                <a:solidFill>
                  <a:srgbClr val="C14733"/>
                </a:solidFill>
                <a:latin typeface="Corben"/>
                <a:ea typeface="Corben"/>
                <a:cs typeface="Corben"/>
                <a:sym typeface="Corbe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22"/>
          <p:cNvSpPr txBox="1"/>
          <p:nvPr>
            <p:ph idx="1" type="body"/>
          </p:nvPr>
        </p:nvSpPr>
        <p:spPr>
          <a:xfrm>
            <a:off x="851408" y="2267889"/>
            <a:ext cx="5517515" cy="3684904"/>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1" i="0" sz="2000" u="none" cap="none" strike="noStrike">
                <a:solidFill>
                  <a:schemeClr val="dk1"/>
                </a:solidFill>
                <a:latin typeface="Arial Rounded"/>
                <a:ea typeface="Arial Rounded"/>
                <a:cs typeface="Arial Rounded"/>
                <a:sym typeface="Arial Rounded"/>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0" name="Google Shape;10;p2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 name="Google Shape;11;p2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 name="Google Shape;12;p2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sz="1800">
                <a:solidFill>
                  <a:srgbClr val="888888"/>
                </a:solidFill>
                <a:latin typeface="Calibri"/>
                <a:ea typeface="Calibri"/>
                <a:cs typeface="Calibri"/>
                <a:sym typeface="Calibri"/>
              </a:defRPr>
            </a:lvl1pPr>
            <a:lvl2pPr indent="0" lvl="1" marL="0" marR="0" rtl="0" algn="r">
              <a:spcBef>
                <a:spcPts val="0"/>
              </a:spcBef>
              <a:buNone/>
              <a:defRPr sz="1800">
                <a:solidFill>
                  <a:srgbClr val="888888"/>
                </a:solidFill>
                <a:latin typeface="Calibri"/>
                <a:ea typeface="Calibri"/>
                <a:cs typeface="Calibri"/>
                <a:sym typeface="Calibri"/>
              </a:defRPr>
            </a:lvl2pPr>
            <a:lvl3pPr indent="0" lvl="2" marL="0" marR="0" rtl="0" algn="r">
              <a:spcBef>
                <a:spcPts val="0"/>
              </a:spcBef>
              <a:buNone/>
              <a:defRPr sz="1800">
                <a:solidFill>
                  <a:srgbClr val="888888"/>
                </a:solidFill>
                <a:latin typeface="Calibri"/>
                <a:ea typeface="Calibri"/>
                <a:cs typeface="Calibri"/>
                <a:sym typeface="Calibri"/>
              </a:defRPr>
            </a:lvl3pPr>
            <a:lvl4pPr indent="0" lvl="3" marL="0" marR="0" rtl="0" algn="r">
              <a:spcBef>
                <a:spcPts val="0"/>
              </a:spcBef>
              <a:buNone/>
              <a:defRPr sz="1800">
                <a:solidFill>
                  <a:srgbClr val="888888"/>
                </a:solidFill>
                <a:latin typeface="Calibri"/>
                <a:ea typeface="Calibri"/>
                <a:cs typeface="Calibri"/>
                <a:sym typeface="Calibri"/>
              </a:defRPr>
            </a:lvl4pPr>
            <a:lvl5pPr indent="0" lvl="4" marL="0" marR="0" rtl="0" algn="r">
              <a:spcBef>
                <a:spcPts val="0"/>
              </a:spcBef>
              <a:buNone/>
              <a:defRPr sz="1800">
                <a:solidFill>
                  <a:srgbClr val="888888"/>
                </a:solidFill>
                <a:latin typeface="Calibri"/>
                <a:ea typeface="Calibri"/>
                <a:cs typeface="Calibri"/>
                <a:sym typeface="Calibri"/>
              </a:defRPr>
            </a:lvl5pPr>
            <a:lvl6pPr indent="0" lvl="5" marL="0" marR="0" rtl="0" algn="r">
              <a:spcBef>
                <a:spcPts val="0"/>
              </a:spcBef>
              <a:buNone/>
              <a:defRPr sz="1800">
                <a:solidFill>
                  <a:srgbClr val="888888"/>
                </a:solidFill>
                <a:latin typeface="Calibri"/>
                <a:ea typeface="Calibri"/>
                <a:cs typeface="Calibri"/>
                <a:sym typeface="Calibri"/>
              </a:defRPr>
            </a:lvl6pPr>
            <a:lvl7pPr indent="0" lvl="6" marL="0" marR="0" rtl="0" algn="r">
              <a:spcBef>
                <a:spcPts val="0"/>
              </a:spcBef>
              <a:buNone/>
              <a:defRPr sz="1800">
                <a:solidFill>
                  <a:srgbClr val="888888"/>
                </a:solidFill>
                <a:latin typeface="Calibri"/>
                <a:ea typeface="Calibri"/>
                <a:cs typeface="Calibri"/>
                <a:sym typeface="Calibri"/>
              </a:defRPr>
            </a:lvl7pPr>
            <a:lvl8pPr indent="0" lvl="7" marL="0" marR="0" rtl="0" algn="r">
              <a:spcBef>
                <a:spcPts val="0"/>
              </a:spcBef>
              <a:buNone/>
              <a:defRPr sz="1800">
                <a:solidFill>
                  <a:srgbClr val="888888"/>
                </a:solidFill>
                <a:latin typeface="Calibri"/>
                <a:ea typeface="Calibri"/>
                <a:cs typeface="Calibri"/>
                <a:sym typeface="Calibri"/>
              </a:defRPr>
            </a:lvl8pPr>
            <a:lvl9pPr indent="0" lvl="8" marL="0" marR="0" rtl="0" algn="r">
              <a:spcBef>
                <a:spcPts val="0"/>
              </a:spcBef>
              <a:buNone/>
              <a:defRPr sz="1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b="0" u="non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5.jpg"/><Relationship Id="rId4" Type="http://schemas.openxmlformats.org/officeDocument/2006/relationships/image" Target="../media/image3.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4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35.jp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2.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2.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2.png"/><Relationship Id="rId4" Type="http://schemas.openxmlformats.org/officeDocument/2006/relationships/image" Target="../media/image9.jpg"/><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8.jp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2.png"/><Relationship Id="rId4" Type="http://schemas.openxmlformats.org/officeDocument/2006/relationships/image" Target="../media/image10.jpg"/><Relationship Id="rId5" Type="http://schemas.openxmlformats.org/officeDocument/2006/relationships/image" Target="../media/image1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31.jpg"/><Relationship Id="rId5" Type="http://schemas.openxmlformats.org/officeDocument/2006/relationships/image" Target="../media/image1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2.png"/><Relationship Id="rId4" Type="http://schemas.openxmlformats.org/officeDocument/2006/relationships/image" Target="../media/image24.jpg"/><Relationship Id="rId5"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2.png"/><Relationship Id="rId4" Type="http://schemas.openxmlformats.org/officeDocument/2006/relationships/image" Target="../media/image15.jpg"/><Relationship Id="rId5" Type="http://schemas.openxmlformats.org/officeDocument/2006/relationships/image" Target="../media/image1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png"/><Relationship Id="rId4" Type="http://schemas.openxmlformats.org/officeDocument/2006/relationships/image" Target="../media/image18.jpg"/><Relationship Id="rId5" Type="http://schemas.openxmlformats.org/officeDocument/2006/relationships/image" Target="../media/image1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image" Target="../media/image19.jpg"/><Relationship Id="rId5" Type="http://schemas.openxmlformats.org/officeDocument/2006/relationships/image" Target="../media/image2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2.png"/><Relationship Id="rId4" Type="http://schemas.openxmlformats.org/officeDocument/2006/relationships/image" Target="../media/image21.jpg"/><Relationship Id="rId5" Type="http://schemas.openxmlformats.org/officeDocument/2006/relationships/image" Target="../media/image3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2.png"/><Relationship Id="rId4" Type="http://schemas.openxmlformats.org/officeDocument/2006/relationships/image" Target="../media/image27.jpg"/><Relationship Id="rId5" Type="http://schemas.openxmlformats.org/officeDocument/2006/relationships/image" Target="../media/image2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2.png"/><Relationship Id="rId4" Type="http://schemas.openxmlformats.org/officeDocument/2006/relationships/image" Target="../media/image30.jpg"/><Relationship Id="rId5" Type="http://schemas.openxmlformats.org/officeDocument/2006/relationships/image" Target="../media/image3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2.png"/><Relationship Id="rId4" Type="http://schemas.openxmlformats.org/officeDocument/2006/relationships/image" Target="../media/image26.jpg"/><Relationship Id="rId5" Type="http://schemas.openxmlformats.org/officeDocument/2006/relationships/image" Target="../media/image3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2.png"/><Relationship Id="rId4" Type="http://schemas.openxmlformats.org/officeDocument/2006/relationships/image" Target="../media/image34.jpg"/><Relationship Id="rId5" Type="http://schemas.openxmlformats.org/officeDocument/2006/relationships/image" Target="../media/image3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2.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2.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6.png"/><Relationship Id="rId4" Type="http://schemas.openxmlformats.org/officeDocument/2006/relationships/image" Target="../media/image29.png"/><Relationship Id="rId5"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5" name="Shape 45"/>
        <p:cNvGrpSpPr/>
        <p:nvPr/>
      </p:nvGrpSpPr>
      <p:grpSpPr>
        <a:xfrm>
          <a:off x="0" y="0"/>
          <a:ext cx="0" cy="0"/>
          <a:chOff x="0" y="0"/>
          <a:chExt cx="0" cy="0"/>
        </a:xfrm>
      </p:grpSpPr>
      <p:grpSp>
        <p:nvGrpSpPr>
          <p:cNvPr id="46" name="Google Shape;46;p1"/>
          <p:cNvGrpSpPr/>
          <p:nvPr/>
        </p:nvGrpSpPr>
        <p:grpSpPr>
          <a:xfrm>
            <a:off x="0" y="76200"/>
            <a:ext cx="12191999" cy="6858000"/>
            <a:chOff x="0" y="0"/>
            <a:chExt cx="12191999" cy="6858000"/>
          </a:xfrm>
        </p:grpSpPr>
        <p:pic>
          <p:nvPicPr>
            <p:cNvPr id="47" name="Google Shape;47;p1"/>
            <p:cNvPicPr preferRelativeResize="0"/>
            <p:nvPr/>
          </p:nvPicPr>
          <p:blipFill rotWithShape="1">
            <a:blip r:embed="rId3">
              <a:alphaModFix/>
            </a:blip>
            <a:srcRect b="0" l="0" r="0" t="0"/>
            <a:stretch/>
          </p:blipFill>
          <p:spPr>
            <a:xfrm>
              <a:off x="3547871" y="0"/>
              <a:ext cx="8644128" cy="6857996"/>
            </a:xfrm>
            <a:prstGeom prst="rect">
              <a:avLst/>
            </a:prstGeom>
            <a:noFill/>
            <a:ln>
              <a:noFill/>
            </a:ln>
          </p:spPr>
        </p:pic>
        <p:pic>
          <p:nvPicPr>
            <p:cNvPr id="48" name="Google Shape;48;p1"/>
            <p:cNvPicPr preferRelativeResize="0"/>
            <p:nvPr/>
          </p:nvPicPr>
          <p:blipFill rotWithShape="1">
            <a:blip r:embed="rId4">
              <a:alphaModFix/>
            </a:blip>
            <a:srcRect b="0" l="0" r="0" t="0"/>
            <a:stretch/>
          </p:blipFill>
          <p:spPr>
            <a:xfrm>
              <a:off x="0" y="0"/>
              <a:ext cx="9756648" cy="6858000"/>
            </a:xfrm>
            <a:prstGeom prst="rect">
              <a:avLst/>
            </a:prstGeom>
            <a:noFill/>
            <a:ln>
              <a:noFill/>
            </a:ln>
          </p:spPr>
        </p:pic>
        <p:sp>
          <p:nvSpPr>
            <p:cNvPr id="49" name="Google Shape;49;p1"/>
            <p:cNvSpPr/>
            <p:nvPr/>
          </p:nvSpPr>
          <p:spPr>
            <a:xfrm>
              <a:off x="481583" y="624840"/>
              <a:ext cx="704215" cy="146685"/>
            </a:xfrm>
            <a:custGeom>
              <a:rect b="b" l="l" r="r" t="t"/>
              <a:pathLst>
                <a:path extrusionOk="0" h="146684" w="704215">
                  <a:moveTo>
                    <a:pt x="704088" y="0"/>
                  </a:moveTo>
                  <a:lnTo>
                    <a:pt x="0" y="0"/>
                  </a:lnTo>
                  <a:lnTo>
                    <a:pt x="0" y="146303"/>
                  </a:lnTo>
                  <a:lnTo>
                    <a:pt x="704088" y="146303"/>
                  </a:lnTo>
                  <a:lnTo>
                    <a:pt x="704088" y="0"/>
                  </a:lnTo>
                  <a:close/>
                </a:path>
              </a:pathLst>
            </a:custGeom>
            <a:solidFill>
              <a:srgbClr val="EC7C3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 name="Google Shape;50;p1"/>
            <p:cNvSpPr/>
            <p:nvPr/>
          </p:nvSpPr>
          <p:spPr>
            <a:xfrm>
              <a:off x="481583" y="4547615"/>
              <a:ext cx="3977640" cy="18415"/>
            </a:xfrm>
            <a:custGeom>
              <a:rect b="b" l="l" r="r" t="t"/>
              <a:pathLst>
                <a:path extrusionOk="0" h="18414" w="3977640">
                  <a:moveTo>
                    <a:pt x="3977640" y="0"/>
                  </a:moveTo>
                  <a:lnTo>
                    <a:pt x="0" y="0"/>
                  </a:lnTo>
                  <a:lnTo>
                    <a:pt x="0" y="18287"/>
                  </a:lnTo>
                  <a:lnTo>
                    <a:pt x="3977640" y="18287"/>
                  </a:lnTo>
                  <a:lnTo>
                    <a:pt x="3977640" y="0"/>
                  </a:lnTo>
                  <a:close/>
                </a:path>
              </a:pathLst>
            </a:custGeom>
            <a:solidFill>
              <a:srgbClr val="D4D4D4"/>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1" name="Google Shape;51;p1"/>
          <p:cNvSpPr txBox="1"/>
          <p:nvPr/>
        </p:nvSpPr>
        <p:spPr>
          <a:xfrm>
            <a:off x="520395" y="4722524"/>
            <a:ext cx="2397760" cy="413575"/>
          </a:xfrm>
          <a:prstGeom prst="rect">
            <a:avLst/>
          </a:prstGeom>
          <a:noFill/>
          <a:ln>
            <a:noFill/>
          </a:ln>
        </p:spPr>
        <p:txBody>
          <a:bodyPr anchorCtr="0" anchor="t" bIns="0" lIns="0" spcFirstLastPara="1" rIns="0" wrap="square" tIns="74275">
            <a:spAutoFit/>
          </a:bodyPr>
          <a:lstStyle/>
          <a:p>
            <a:pPr indent="0" lvl="0" marL="12700" marR="0" rtl="0" algn="l">
              <a:lnSpc>
                <a:spcPct val="100000"/>
              </a:lnSpc>
              <a:spcBef>
                <a:spcPts val="0"/>
              </a:spcBef>
              <a:spcAft>
                <a:spcPts val="0"/>
              </a:spcAft>
              <a:buNone/>
            </a:pPr>
            <a:r>
              <a:rPr b="1" lang="en-US" sz="2200">
                <a:solidFill>
                  <a:schemeClr val="dk1"/>
                </a:solidFill>
                <a:latin typeface="Arial Rounded"/>
                <a:ea typeface="Arial Rounded"/>
                <a:cs typeface="Arial Rounded"/>
                <a:sym typeface="Arial Rounded"/>
              </a:rPr>
              <a:t>SQL Case Study</a:t>
            </a:r>
            <a:endParaRPr b="1" sz="2200">
              <a:solidFill>
                <a:schemeClr val="dk1"/>
              </a:solidFill>
              <a:latin typeface="Arial Rounded"/>
              <a:ea typeface="Arial Rounded"/>
              <a:cs typeface="Arial Rounded"/>
              <a:sym typeface="Arial Rounded"/>
            </a:endParaRPr>
          </a:p>
        </p:txBody>
      </p:sp>
      <p:sp>
        <p:nvSpPr>
          <p:cNvPr id="52" name="Google Shape;52;p1"/>
          <p:cNvSpPr txBox="1"/>
          <p:nvPr>
            <p:ph type="title"/>
          </p:nvPr>
        </p:nvSpPr>
        <p:spPr>
          <a:xfrm>
            <a:off x="494995" y="873019"/>
            <a:ext cx="2784475" cy="3554729"/>
          </a:xfrm>
          <a:prstGeom prst="rect">
            <a:avLst/>
          </a:prstGeom>
          <a:noFill/>
          <a:ln>
            <a:noFill/>
          </a:ln>
        </p:spPr>
        <p:txBody>
          <a:bodyPr anchorCtr="0" anchor="t" bIns="0" lIns="0" spcFirstLastPara="1" rIns="0" wrap="square" tIns="81275">
            <a:spAutoFit/>
          </a:bodyPr>
          <a:lstStyle/>
          <a:p>
            <a:pPr indent="0" lvl="0" marL="113664" rtl="0" algn="l">
              <a:lnSpc>
                <a:spcPct val="100000"/>
              </a:lnSpc>
              <a:spcBef>
                <a:spcPts val="0"/>
              </a:spcBef>
              <a:spcAft>
                <a:spcPts val="0"/>
              </a:spcAft>
              <a:buNone/>
            </a:pPr>
            <a:r>
              <a:rPr lang="en-US"/>
              <a:t>C</a:t>
            </a:r>
            <a:r>
              <a:rPr baseline="30000" lang="en-US" sz="8100">
                <a:solidFill>
                  <a:srgbClr val="000000"/>
                </a:solidFill>
                <a:latin typeface="Arial"/>
                <a:ea typeface="Arial"/>
                <a:cs typeface="Arial"/>
                <a:sym typeface="Arial"/>
              </a:rPr>
              <a:t>A</a:t>
            </a:r>
            <a:r>
              <a:rPr lang="en-US" sz="1700"/>
              <a:t>lass</a:t>
            </a:r>
            <a:r>
              <a:rPr baseline="30000" lang="en-US" sz="6000">
                <a:solidFill>
                  <a:srgbClr val="000000"/>
                </a:solidFill>
                <a:latin typeface="Arial"/>
                <a:ea typeface="Arial"/>
                <a:cs typeface="Arial"/>
                <a:sym typeface="Arial"/>
              </a:rPr>
              <a:t>x</a:t>
            </a:r>
            <a:r>
              <a:rPr lang="en-US" sz="1700"/>
              <a:t>ic</a:t>
            </a:r>
            <a:r>
              <a:rPr baseline="30000" lang="en-US" sz="6000">
                <a:solidFill>
                  <a:srgbClr val="000000"/>
                </a:solidFill>
                <a:latin typeface="Arial"/>
                <a:ea typeface="Arial"/>
                <a:cs typeface="Arial"/>
                <a:sym typeface="Arial"/>
              </a:rPr>
              <a:t>o</a:t>
            </a:r>
            <a:r>
              <a:rPr lang="en-US" sz="1700"/>
              <a:t>ca</a:t>
            </a:r>
            <a:r>
              <a:rPr baseline="30000" lang="en-US" sz="6000">
                <a:solidFill>
                  <a:srgbClr val="000000"/>
                </a:solidFill>
                <a:latin typeface="Arial"/>
                <a:ea typeface="Arial"/>
                <a:cs typeface="Arial"/>
                <a:sym typeface="Arial"/>
              </a:rPr>
              <a:t>n</a:t>
            </a:r>
            <a:r>
              <a:rPr lang="en-US" sz="1700"/>
              <a:t>rs</a:t>
            </a:r>
            <a:endParaRPr sz="1700">
              <a:latin typeface="Arial"/>
              <a:ea typeface="Arial"/>
              <a:cs typeface="Arial"/>
              <a:sym typeface="Arial"/>
            </a:endParaRPr>
          </a:p>
          <a:p>
            <a:pPr indent="0" lvl="0" marL="38100" marR="30480" rtl="0" algn="l">
              <a:lnSpc>
                <a:spcPct val="90100"/>
              </a:lnSpc>
              <a:spcBef>
                <a:spcPts val="1310"/>
              </a:spcBef>
              <a:spcAft>
                <a:spcPts val="0"/>
              </a:spcAft>
              <a:buNone/>
            </a:pPr>
            <a:r>
              <a:rPr b="1" lang="en-US" sz="6000">
                <a:solidFill>
                  <a:srgbClr val="EC7C30"/>
                </a:solidFill>
                <a:latin typeface="Arial Rounded"/>
                <a:ea typeface="Arial Rounded"/>
                <a:cs typeface="Arial Rounded"/>
                <a:sym typeface="Arial Rounded"/>
              </a:rPr>
              <a:t>Axon  Classic  Cars</a:t>
            </a:r>
            <a:endParaRPr b="1" sz="6000">
              <a:latin typeface="Arial Rounded"/>
              <a:ea typeface="Arial Rounded"/>
              <a:cs typeface="Arial Rounded"/>
              <a:sym typeface="Arial Rounded"/>
            </a:endParaRPr>
          </a:p>
        </p:txBody>
      </p:sp>
      <p:pic>
        <p:nvPicPr>
          <p:cNvPr id="53" name="Google Shape;53;p1"/>
          <p:cNvPicPr preferRelativeResize="0"/>
          <p:nvPr/>
        </p:nvPicPr>
        <p:blipFill rotWithShape="1">
          <a:blip r:embed="rId5">
            <a:alphaModFix/>
          </a:blip>
          <a:srcRect b="0" l="0" r="0" t="0"/>
          <a:stretch/>
        </p:blipFill>
        <p:spPr>
          <a:xfrm>
            <a:off x="826008" y="728472"/>
            <a:ext cx="1167384" cy="5303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pic>
        <p:nvPicPr>
          <p:cNvPr id="58" name="Google Shape;58;p2"/>
          <p:cNvPicPr preferRelativeResize="0"/>
          <p:nvPr/>
        </p:nvPicPr>
        <p:blipFill rotWithShape="1">
          <a:blip r:embed="rId3">
            <a:alphaModFix/>
          </a:blip>
          <a:srcRect b="0" l="0" r="0" t="0"/>
          <a:stretch/>
        </p:blipFill>
        <p:spPr>
          <a:xfrm>
            <a:off x="582168" y="472440"/>
            <a:ext cx="11027664" cy="5687568"/>
          </a:xfrm>
          <a:prstGeom prst="rect">
            <a:avLst/>
          </a:prstGeom>
          <a:noFill/>
          <a:ln>
            <a:noFill/>
          </a:ln>
        </p:spPr>
      </p:pic>
      <p:sp>
        <p:nvSpPr>
          <p:cNvPr id="59" name="Google Shape;59;p2"/>
          <p:cNvSpPr txBox="1"/>
          <p:nvPr/>
        </p:nvSpPr>
        <p:spPr>
          <a:xfrm>
            <a:off x="997102" y="1367291"/>
            <a:ext cx="5244465" cy="4508500"/>
          </a:xfrm>
          <a:prstGeom prst="rect">
            <a:avLst/>
          </a:prstGeom>
          <a:noFill/>
          <a:ln>
            <a:noFill/>
          </a:ln>
        </p:spPr>
        <p:txBody>
          <a:bodyPr anchorCtr="0" anchor="t" bIns="0" lIns="0" spcFirstLastPara="1" rIns="0" wrap="square" tIns="226050">
            <a:spAutoFit/>
          </a:bodyPr>
          <a:lstStyle/>
          <a:p>
            <a:pPr indent="-457200" lvl="0" marL="469265" marR="0" rtl="0" algn="l">
              <a:lnSpc>
                <a:spcPct val="100000"/>
              </a:lnSpc>
              <a:spcBef>
                <a:spcPts val="0"/>
              </a:spcBef>
              <a:spcAft>
                <a:spcPts val="0"/>
              </a:spcAft>
              <a:buClr>
                <a:schemeClr val="dk1"/>
              </a:buClr>
              <a:buSzPts val="2800"/>
              <a:buFont typeface="Arial"/>
              <a:buChar char="•"/>
            </a:pPr>
            <a:r>
              <a:rPr b="1" lang="en-US" sz="2800">
                <a:solidFill>
                  <a:schemeClr val="dk1"/>
                </a:solidFill>
                <a:latin typeface="Arial Rounded"/>
                <a:ea typeface="Arial Rounded"/>
                <a:cs typeface="Arial Rounded"/>
                <a:sym typeface="Arial Rounded"/>
              </a:rPr>
              <a:t>Introduction</a:t>
            </a:r>
            <a:endParaRPr b="1" sz="2800">
              <a:solidFill>
                <a:schemeClr val="dk1"/>
              </a:solidFill>
              <a:latin typeface="Arial Rounded"/>
              <a:ea typeface="Arial Rounded"/>
              <a:cs typeface="Arial Rounded"/>
              <a:sym typeface="Arial Rounded"/>
            </a:endParaRPr>
          </a:p>
          <a:p>
            <a:pPr indent="-457200" lvl="0" marL="469265" marR="0" rtl="0" algn="l">
              <a:lnSpc>
                <a:spcPct val="100000"/>
              </a:lnSpc>
              <a:spcBef>
                <a:spcPts val="1680"/>
              </a:spcBef>
              <a:spcAft>
                <a:spcPts val="0"/>
              </a:spcAft>
              <a:buClr>
                <a:schemeClr val="dk1"/>
              </a:buClr>
              <a:buSzPts val="2800"/>
              <a:buFont typeface="Arial"/>
              <a:buChar char="•"/>
            </a:pPr>
            <a:r>
              <a:rPr b="1" lang="en-US" sz="2800">
                <a:solidFill>
                  <a:schemeClr val="dk1"/>
                </a:solidFill>
                <a:latin typeface="Arial Rounded"/>
                <a:ea typeface="Arial Rounded"/>
                <a:cs typeface="Arial Rounded"/>
                <a:sym typeface="Arial Rounded"/>
              </a:rPr>
              <a:t>Problem Statement</a:t>
            </a:r>
            <a:endParaRPr b="1" sz="2800">
              <a:solidFill>
                <a:schemeClr val="dk1"/>
              </a:solidFill>
              <a:latin typeface="Arial Rounded"/>
              <a:ea typeface="Arial Rounded"/>
              <a:cs typeface="Arial Rounded"/>
              <a:sym typeface="Arial Rounded"/>
            </a:endParaRPr>
          </a:p>
          <a:p>
            <a:pPr indent="-457200" lvl="0" marL="469265" marR="0" rtl="0" algn="l">
              <a:lnSpc>
                <a:spcPct val="100000"/>
              </a:lnSpc>
              <a:spcBef>
                <a:spcPts val="1680"/>
              </a:spcBef>
              <a:spcAft>
                <a:spcPts val="0"/>
              </a:spcAft>
              <a:buClr>
                <a:schemeClr val="dk1"/>
              </a:buClr>
              <a:buSzPts val="2800"/>
              <a:buFont typeface="Arial"/>
              <a:buChar char="•"/>
            </a:pPr>
            <a:r>
              <a:rPr b="1" lang="en-US" sz="2800">
                <a:solidFill>
                  <a:schemeClr val="dk1"/>
                </a:solidFill>
                <a:latin typeface="Arial Rounded"/>
                <a:ea typeface="Arial Rounded"/>
                <a:cs typeface="Arial Rounded"/>
                <a:sym typeface="Arial Rounded"/>
              </a:rPr>
              <a:t>Dataset</a:t>
            </a:r>
            <a:endParaRPr b="1" sz="2800">
              <a:solidFill>
                <a:schemeClr val="dk1"/>
              </a:solidFill>
              <a:latin typeface="Arial Rounded"/>
              <a:ea typeface="Arial Rounded"/>
              <a:cs typeface="Arial Rounded"/>
              <a:sym typeface="Arial Rounded"/>
            </a:endParaRPr>
          </a:p>
          <a:p>
            <a:pPr indent="-457200" lvl="0" marL="469265" marR="0" rtl="0" algn="l">
              <a:lnSpc>
                <a:spcPct val="100000"/>
              </a:lnSpc>
              <a:spcBef>
                <a:spcPts val="1685"/>
              </a:spcBef>
              <a:spcAft>
                <a:spcPts val="0"/>
              </a:spcAft>
              <a:buClr>
                <a:schemeClr val="dk1"/>
              </a:buClr>
              <a:buSzPts val="2800"/>
              <a:buFont typeface="Arial"/>
              <a:buChar char="•"/>
            </a:pPr>
            <a:r>
              <a:rPr b="1" lang="en-US" sz="2800">
                <a:solidFill>
                  <a:schemeClr val="dk1"/>
                </a:solidFill>
                <a:latin typeface="Arial Rounded"/>
                <a:ea typeface="Arial Rounded"/>
                <a:cs typeface="Arial Rounded"/>
                <a:sym typeface="Arial Rounded"/>
              </a:rPr>
              <a:t>Entity Relationship Diagram</a:t>
            </a:r>
            <a:endParaRPr b="1" sz="2800">
              <a:solidFill>
                <a:schemeClr val="dk1"/>
              </a:solidFill>
              <a:latin typeface="Arial Rounded"/>
              <a:ea typeface="Arial Rounded"/>
              <a:cs typeface="Arial Rounded"/>
              <a:sym typeface="Arial Rounded"/>
            </a:endParaRPr>
          </a:p>
          <a:p>
            <a:pPr indent="-457200" lvl="0" marL="469265" marR="0" rtl="0" algn="l">
              <a:lnSpc>
                <a:spcPct val="100000"/>
              </a:lnSpc>
              <a:spcBef>
                <a:spcPts val="1680"/>
              </a:spcBef>
              <a:spcAft>
                <a:spcPts val="0"/>
              </a:spcAft>
              <a:buClr>
                <a:schemeClr val="dk1"/>
              </a:buClr>
              <a:buSzPts val="2800"/>
              <a:buFont typeface="Arial"/>
              <a:buChar char="•"/>
            </a:pPr>
            <a:r>
              <a:rPr b="1" lang="en-US" sz="2800">
                <a:solidFill>
                  <a:schemeClr val="dk1"/>
                </a:solidFill>
                <a:latin typeface="Arial Rounded"/>
                <a:ea typeface="Arial Rounded"/>
                <a:cs typeface="Arial Rounded"/>
                <a:sym typeface="Arial Rounded"/>
              </a:rPr>
              <a:t>Suggestions</a:t>
            </a:r>
            <a:endParaRPr b="1" sz="2800">
              <a:solidFill>
                <a:schemeClr val="dk1"/>
              </a:solidFill>
              <a:latin typeface="Arial Rounded"/>
              <a:ea typeface="Arial Rounded"/>
              <a:cs typeface="Arial Rounded"/>
              <a:sym typeface="Arial Rounded"/>
            </a:endParaRPr>
          </a:p>
          <a:p>
            <a:pPr indent="-457200" lvl="0" marL="469265" marR="0" rtl="0" algn="l">
              <a:lnSpc>
                <a:spcPct val="100000"/>
              </a:lnSpc>
              <a:spcBef>
                <a:spcPts val="1685"/>
              </a:spcBef>
              <a:spcAft>
                <a:spcPts val="0"/>
              </a:spcAft>
              <a:buClr>
                <a:schemeClr val="dk1"/>
              </a:buClr>
              <a:buSzPts val="2800"/>
              <a:buFont typeface="Arial"/>
              <a:buChar char="•"/>
            </a:pPr>
            <a:r>
              <a:rPr b="1" lang="en-US" sz="2800">
                <a:solidFill>
                  <a:schemeClr val="dk1"/>
                </a:solidFill>
                <a:latin typeface="Arial Rounded"/>
                <a:ea typeface="Arial Rounded"/>
                <a:cs typeface="Arial Rounded"/>
                <a:sym typeface="Arial Rounded"/>
              </a:rPr>
              <a:t>Insight’s</a:t>
            </a:r>
            <a:endParaRPr b="1" sz="2800">
              <a:solidFill>
                <a:schemeClr val="dk1"/>
              </a:solidFill>
              <a:latin typeface="Arial Rounded"/>
              <a:ea typeface="Arial Rounded"/>
              <a:cs typeface="Arial Rounded"/>
              <a:sym typeface="Arial Rounded"/>
            </a:endParaRPr>
          </a:p>
          <a:p>
            <a:pPr indent="-457200" lvl="0" marL="469265" marR="0" rtl="0" algn="l">
              <a:lnSpc>
                <a:spcPct val="100000"/>
              </a:lnSpc>
              <a:spcBef>
                <a:spcPts val="1680"/>
              </a:spcBef>
              <a:spcAft>
                <a:spcPts val="0"/>
              </a:spcAft>
              <a:buClr>
                <a:schemeClr val="dk1"/>
              </a:buClr>
              <a:buSzPts val="2800"/>
              <a:buFont typeface="Arial"/>
              <a:buChar char="•"/>
            </a:pPr>
            <a:r>
              <a:rPr b="1" lang="en-US" sz="2800">
                <a:solidFill>
                  <a:schemeClr val="dk1"/>
                </a:solidFill>
                <a:latin typeface="Arial Rounded"/>
                <a:ea typeface="Arial Rounded"/>
                <a:cs typeface="Arial Rounded"/>
                <a:sym typeface="Arial Rounded"/>
              </a:rPr>
              <a:t>Recommendation</a:t>
            </a:r>
            <a:endParaRPr b="1" sz="2800">
              <a:solidFill>
                <a:schemeClr val="dk1"/>
              </a:solidFill>
              <a:latin typeface="Arial Rounded"/>
              <a:ea typeface="Arial Rounded"/>
              <a:cs typeface="Arial Rounded"/>
              <a:sym typeface="Arial Rounded"/>
            </a:endParaRPr>
          </a:p>
        </p:txBody>
      </p:sp>
      <p:sp>
        <p:nvSpPr>
          <p:cNvPr id="60" name="Google Shape;60;p2"/>
          <p:cNvSpPr txBox="1"/>
          <p:nvPr>
            <p:ph type="title"/>
          </p:nvPr>
        </p:nvSpPr>
        <p:spPr>
          <a:xfrm>
            <a:off x="827328" y="664286"/>
            <a:ext cx="2707640" cy="75755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4800">
                <a:solidFill>
                  <a:srgbClr val="EC7C30"/>
                </a:solidFill>
                <a:latin typeface="Arial Rounded"/>
                <a:ea typeface="Arial Rounded"/>
                <a:cs typeface="Arial Rounded"/>
                <a:sym typeface="Arial Rounded"/>
              </a:rPr>
              <a:t>Contents</a:t>
            </a:r>
            <a:endParaRPr b="1" sz="4800">
              <a:latin typeface="Arial Rounded"/>
              <a:ea typeface="Arial Rounded"/>
              <a:cs typeface="Arial Rounded"/>
              <a:sym typeface="Arial Rounded"/>
            </a:endParaRPr>
          </a:p>
        </p:txBody>
      </p:sp>
      <p:pic>
        <p:nvPicPr>
          <p:cNvPr id="61" name="Google Shape;61;p2"/>
          <p:cNvPicPr preferRelativeResize="0"/>
          <p:nvPr/>
        </p:nvPicPr>
        <p:blipFill rotWithShape="1">
          <a:blip r:embed="rId4">
            <a:alphaModFix/>
          </a:blip>
          <a:srcRect b="0" l="0" r="0" t="0"/>
          <a:stretch/>
        </p:blipFill>
        <p:spPr>
          <a:xfrm>
            <a:off x="6376415" y="499872"/>
            <a:ext cx="5227320" cy="566013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3"/>
          <p:cNvPicPr preferRelativeResize="0"/>
          <p:nvPr/>
        </p:nvPicPr>
        <p:blipFill rotWithShape="1">
          <a:blip r:embed="rId3">
            <a:alphaModFix/>
          </a:blip>
          <a:srcRect b="0" l="0" r="0" t="0"/>
          <a:stretch/>
        </p:blipFill>
        <p:spPr>
          <a:xfrm>
            <a:off x="582168" y="499872"/>
            <a:ext cx="10838688" cy="5687568"/>
          </a:xfrm>
          <a:prstGeom prst="rect">
            <a:avLst/>
          </a:prstGeom>
          <a:noFill/>
          <a:ln>
            <a:noFill/>
          </a:ln>
        </p:spPr>
      </p:pic>
      <p:sp>
        <p:nvSpPr>
          <p:cNvPr id="67" name="Google Shape;67;p3"/>
          <p:cNvSpPr txBox="1"/>
          <p:nvPr/>
        </p:nvSpPr>
        <p:spPr>
          <a:xfrm>
            <a:off x="851408" y="592658"/>
            <a:ext cx="3644265" cy="7575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4800">
                <a:solidFill>
                  <a:srgbClr val="EC7C30"/>
                </a:solidFill>
                <a:latin typeface="Arial Rounded"/>
                <a:ea typeface="Arial Rounded"/>
                <a:cs typeface="Arial Rounded"/>
                <a:sym typeface="Arial Rounded"/>
              </a:rPr>
              <a:t>Introduction</a:t>
            </a:r>
            <a:endParaRPr b="1" sz="4800">
              <a:solidFill>
                <a:schemeClr val="dk1"/>
              </a:solidFill>
              <a:latin typeface="Arial Rounded"/>
              <a:ea typeface="Arial Rounded"/>
              <a:cs typeface="Arial Rounded"/>
              <a:sym typeface="Arial Rounded"/>
            </a:endParaRPr>
          </a:p>
        </p:txBody>
      </p:sp>
      <p:sp>
        <p:nvSpPr>
          <p:cNvPr id="68" name="Google Shape;68;p3"/>
          <p:cNvSpPr txBox="1"/>
          <p:nvPr/>
        </p:nvSpPr>
        <p:spPr>
          <a:xfrm>
            <a:off x="851408" y="1353851"/>
            <a:ext cx="2360930" cy="939800"/>
          </a:xfrm>
          <a:prstGeom prst="rect">
            <a:avLst/>
          </a:prstGeom>
          <a:noFill/>
          <a:ln>
            <a:noFill/>
          </a:ln>
        </p:spPr>
        <p:txBody>
          <a:bodyPr anchorCtr="0" anchor="t" bIns="0" lIns="0" spcFirstLastPara="1" rIns="0" wrap="square" tIns="164450">
            <a:spAutoFit/>
          </a:bodyPr>
          <a:lstStyle/>
          <a:p>
            <a:pPr indent="0" lvl="0" marL="12700" marR="0" rtl="0" algn="l">
              <a:lnSpc>
                <a:spcPct val="100000"/>
              </a:lnSpc>
              <a:spcBef>
                <a:spcPts val="0"/>
              </a:spcBef>
              <a:spcAft>
                <a:spcPts val="0"/>
              </a:spcAft>
              <a:buNone/>
            </a:pPr>
            <a:r>
              <a:rPr b="1" lang="en-US" sz="2000">
                <a:solidFill>
                  <a:schemeClr val="dk1"/>
                </a:solidFill>
                <a:latin typeface="Arial Rounded"/>
                <a:ea typeface="Arial Rounded"/>
                <a:cs typeface="Arial Rounded"/>
                <a:sym typeface="Arial Rounded"/>
              </a:rPr>
              <a:t>In	This	project,	I</a:t>
            </a:r>
            <a:endParaRPr b="1" sz="2000">
              <a:solidFill>
                <a:schemeClr val="dk1"/>
              </a:solidFill>
              <a:latin typeface="Arial Rounded"/>
              <a:ea typeface="Arial Rounded"/>
              <a:cs typeface="Arial Rounded"/>
              <a:sym typeface="Arial Rounded"/>
            </a:endParaRPr>
          </a:p>
          <a:p>
            <a:pPr indent="0" lvl="0" marL="12700" marR="0" rtl="0" algn="l">
              <a:lnSpc>
                <a:spcPct val="100000"/>
              </a:lnSpc>
              <a:spcBef>
                <a:spcPts val="1200"/>
              </a:spcBef>
              <a:spcAft>
                <a:spcPts val="0"/>
              </a:spcAft>
              <a:buNone/>
            </a:pPr>
            <a:r>
              <a:rPr b="1" lang="en-US" sz="2000">
                <a:solidFill>
                  <a:schemeClr val="dk1"/>
                </a:solidFill>
                <a:latin typeface="Arial Rounded"/>
                <a:ea typeface="Arial Rounded"/>
                <a:cs typeface="Arial Rounded"/>
                <a:sym typeface="Arial Rounded"/>
              </a:rPr>
              <a:t>Company's	data,</a:t>
            </a:r>
            <a:endParaRPr b="1" sz="2000">
              <a:solidFill>
                <a:schemeClr val="dk1"/>
              </a:solidFill>
              <a:latin typeface="Arial Rounded"/>
              <a:ea typeface="Arial Rounded"/>
              <a:cs typeface="Arial Rounded"/>
              <a:sym typeface="Arial Rounded"/>
            </a:endParaRPr>
          </a:p>
        </p:txBody>
      </p:sp>
      <p:sp>
        <p:nvSpPr>
          <p:cNvPr id="69" name="Google Shape;69;p3"/>
          <p:cNvSpPr txBox="1"/>
          <p:nvPr/>
        </p:nvSpPr>
        <p:spPr>
          <a:xfrm>
            <a:off x="3223386" y="1353851"/>
            <a:ext cx="3145790" cy="939800"/>
          </a:xfrm>
          <a:prstGeom prst="rect">
            <a:avLst/>
          </a:prstGeom>
          <a:noFill/>
          <a:ln>
            <a:noFill/>
          </a:ln>
        </p:spPr>
        <p:txBody>
          <a:bodyPr anchorCtr="0" anchor="t" bIns="0" lIns="0" spcFirstLastPara="1" rIns="0" wrap="square" tIns="164450">
            <a:spAutoFit/>
          </a:bodyPr>
          <a:lstStyle/>
          <a:p>
            <a:pPr indent="0" lvl="0" marL="0" marR="6350" rtl="0" algn="r">
              <a:lnSpc>
                <a:spcPct val="100000"/>
              </a:lnSpc>
              <a:spcBef>
                <a:spcPts val="0"/>
              </a:spcBef>
              <a:spcAft>
                <a:spcPts val="0"/>
              </a:spcAft>
              <a:buNone/>
            </a:pPr>
            <a:r>
              <a:rPr b="1" lang="en-US" sz="2000">
                <a:solidFill>
                  <a:schemeClr val="dk1"/>
                </a:solidFill>
                <a:latin typeface="Arial Rounded"/>
                <a:ea typeface="Arial Rounded"/>
                <a:cs typeface="Arial Rounded"/>
                <a:sym typeface="Arial Rounded"/>
              </a:rPr>
              <a:t>have	worked	on	Axon</a:t>
            </a:r>
            <a:endParaRPr b="1" sz="2000">
              <a:solidFill>
                <a:schemeClr val="dk1"/>
              </a:solidFill>
              <a:latin typeface="Arial Rounded"/>
              <a:ea typeface="Arial Rounded"/>
              <a:cs typeface="Arial Rounded"/>
              <a:sym typeface="Arial Rounded"/>
            </a:endParaRPr>
          </a:p>
          <a:p>
            <a:pPr indent="0" lvl="0" marL="0" marR="5080" rtl="0" algn="r">
              <a:lnSpc>
                <a:spcPct val="100000"/>
              </a:lnSpc>
              <a:spcBef>
                <a:spcPts val="1200"/>
              </a:spcBef>
              <a:spcAft>
                <a:spcPts val="0"/>
              </a:spcAft>
              <a:buNone/>
            </a:pPr>
            <a:r>
              <a:rPr b="1" lang="en-US" sz="2000">
                <a:solidFill>
                  <a:schemeClr val="dk1"/>
                </a:solidFill>
                <a:latin typeface="Arial Rounded"/>
                <a:ea typeface="Arial Rounded"/>
                <a:cs typeface="Arial Rounded"/>
                <a:sym typeface="Arial Rounded"/>
              </a:rPr>
              <a:t>which	is	a	classic	car</a:t>
            </a:r>
            <a:endParaRPr b="1" sz="2000">
              <a:solidFill>
                <a:schemeClr val="dk1"/>
              </a:solidFill>
              <a:latin typeface="Arial Rounded"/>
              <a:ea typeface="Arial Rounded"/>
              <a:cs typeface="Arial Rounded"/>
              <a:sym typeface="Arial Rounded"/>
            </a:endParaRPr>
          </a:p>
        </p:txBody>
      </p:sp>
      <p:sp>
        <p:nvSpPr>
          <p:cNvPr id="70" name="Google Shape;70;p3"/>
          <p:cNvSpPr txBox="1"/>
          <p:nvPr>
            <p:ph idx="1" type="body"/>
          </p:nvPr>
        </p:nvSpPr>
        <p:spPr>
          <a:xfrm>
            <a:off x="851408" y="2267889"/>
            <a:ext cx="5517515" cy="3684904"/>
          </a:xfrm>
          <a:prstGeom prst="rect">
            <a:avLst/>
          </a:prstGeom>
          <a:noFill/>
          <a:ln>
            <a:noFill/>
          </a:ln>
        </p:spPr>
        <p:txBody>
          <a:bodyPr anchorCtr="0" anchor="t" bIns="0" lIns="0" spcFirstLastPara="1" rIns="0" wrap="square" tIns="12700">
            <a:spAutoFit/>
          </a:bodyPr>
          <a:lstStyle/>
          <a:p>
            <a:pPr indent="0" lvl="0" marL="12700" marR="5080" rtl="0" algn="just">
              <a:lnSpc>
                <a:spcPct val="150100"/>
              </a:lnSpc>
              <a:spcBef>
                <a:spcPts val="0"/>
              </a:spcBef>
              <a:spcAft>
                <a:spcPts val="0"/>
              </a:spcAft>
              <a:buNone/>
            </a:pPr>
            <a:r>
              <a:rPr lang="en-US"/>
              <a:t>retailer company. The sales team lacks a  centralized system to effectively manage  and analyze sales data, which is affecting  the decision-making process. The aim is to  use Microsoft Power BI and SQL to create a  Business Intelligence (BI) solution, that  offers insights and helps them make better  decisions for the future.</a:t>
            </a:r>
            <a:endParaRPr/>
          </a:p>
        </p:txBody>
      </p:sp>
      <p:pic>
        <p:nvPicPr>
          <p:cNvPr id="71" name="Google Shape;71;p3"/>
          <p:cNvPicPr preferRelativeResize="0"/>
          <p:nvPr/>
        </p:nvPicPr>
        <p:blipFill rotWithShape="1">
          <a:blip r:embed="rId4">
            <a:alphaModFix/>
          </a:blip>
          <a:srcRect b="0" l="0" r="0" t="0"/>
          <a:stretch/>
        </p:blipFill>
        <p:spPr>
          <a:xfrm>
            <a:off x="6839711" y="530351"/>
            <a:ext cx="4617720" cy="5657088"/>
          </a:xfrm>
          <a:prstGeom prst="rect">
            <a:avLst/>
          </a:prstGeom>
          <a:noFill/>
          <a:ln>
            <a:noFill/>
          </a:ln>
        </p:spPr>
      </p:pic>
      <p:sp>
        <p:nvSpPr>
          <p:cNvPr id="72" name="Google Shape;72;p3"/>
          <p:cNvSpPr txBox="1"/>
          <p:nvPr>
            <p:ph type="title"/>
          </p:nvPr>
        </p:nvSpPr>
        <p:spPr>
          <a:xfrm>
            <a:off x="10022078" y="118694"/>
            <a:ext cx="1334770" cy="848994"/>
          </a:xfrm>
          <a:prstGeom prst="rect">
            <a:avLst/>
          </a:prstGeom>
          <a:noFill/>
          <a:ln>
            <a:noFill/>
          </a:ln>
        </p:spPr>
        <p:txBody>
          <a:bodyPr anchorCtr="0" anchor="t" bIns="0" lIns="0" spcFirstLastPara="1" rIns="0" wrap="square" tIns="12700">
            <a:spAutoFit/>
          </a:bodyPr>
          <a:lstStyle/>
          <a:p>
            <a:pPr indent="0" lvl="0" marL="38100" rtl="0" algn="l">
              <a:lnSpc>
                <a:spcPct val="100000"/>
              </a:lnSpc>
              <a:spcBef>
                <a:spcPts val="0"/>
              </a:spcBef>
              <a:spcAft>
                <a:spcPts val="0"/>
              </a:spcAft>
              <a:buNone/>
            </a:pPr>
            <a:r>
              <a:rPr lang="en-US"/>
              <a:t>C</a:t>
            </a:r>
            <a:r>
              <a:rPr baseline="30000" lang="en-US" sz="8100">
                <a:solidFill>
                  <a:srgbClr val="000000"/>
                </a:solidFill>
                <a:latin typeface="Arial"/>
                <a:ea typeface="Arial"/>
                <a:cs typeface="Arial"/>
                <a:sym typeface="Arial"/>
              </a:rPr>
              <a:t>A</a:t>
            </a:r>
            <a:r>
              <a:rPr lang="en-US" sz="1700"/>
              <a:t>lass</a:t>
            </a:r>
            <a:r>
              <a:rPr baseline="30000" lang="en-US" sz="6000">
                <a:solidFill>
                  <a:srgbClr val="000000"/>
                </a:solidFill>
                <a:latin typeface="Arial"/>
                <a:ea typeface="Arial"/>
                <a:cs typeface="Arial"/>
                <a:sym typeface="Arial"/>
              </a:rPr>
              <a:t>x</a:t>
            </a:r>
            <a:r>
              <a:rPr lang="en-US" sz="1700"/>
              <a:t>ic</a:t>
            </a:r>
            <a:r>
              <a:rPr baseline="30000" lang="en-US" sz="6000">
                <a:solidFill>
                  <a:srgbClr val="000000"/>
                </a:solidFill>
                <a:latin typeface="Arial"/>
                <a:ea typeface="Arial"/>
                <a:cs typeface="Arial"/>
                <a:sym typeface="Arial"/>
              </a:rPr>
              <a:t>o</a:t>
            </a:r>
            <a:r>
              <a:rPr lang="en-US" sz="1700"/>
              <a:t>ca</a:t>
            </a:r>
            <a:r>
              <a:rPr baseline="30000" lang="en-US" sz="6000">
                <a:solidFill>
                  <a:srgbClr val="000000"/>
                </a:solidFill>
                <a:latin typeface="Arial"/>
                <a:ea typeface="Arial"/>
                <a:cs typeface="Arial"/>
                <a:sym typeface="Arial"/>
              </a:rPr>
              <a:t>n</a:t>
            </a:r>
            <a:r>
              <a:rPr lang="en-US" sz="1700"/>
              <a:t>rs</a:t>
            </a:r>
            <a:endParaRPr sz="1700">
              <a:latin typeface="Arial"/>
              <a:ea typeface="Arial"/>
              <a:cs typeface="Arial"/>
              <a:sym typeface="Arial"/>
            </a:endParaRPr>
          </a:p>
        </p:txBody>
      </p:sp>
      <p:pic>
        <p:nvPicPr>
          <p:cNvPr id="73" name="Google Shape;73;p3"/>
          <p:cNvPicPr preferRelativeResize="0"/>
          <p:nvPr/>
        </p:nvPicPr>
        <p:blipFill rotWithShape="1">
          <a:blip r:embed="rId5">
            <a:alphaModFix/>
          </a:blip>
          <a:srcRect b="0" l="0" r="0" t="0"/>
          <a:stretch/>
        </p:blipFill>
        <p:spPr>
          <a:xfrm>
            <a:off x="10274807" y="0"/>
            <a:ext cx="1170431" cy="43586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pic>
        <p:nvPicPr>
          <p:cNvPr id="78" name="Google Shape;78;p4"/>
          <p:cNvPicPr preferRelativeResize="0"/>
          <p:nvPr/>
        </p:nvPicPr>
        <p:blipFill rotWithShape="1">
          <a:blip r:embed="rId3">
            <a:alphaModFix/>
          </a:blip>
          <a:srcRect b="0" l="0" r="0" t="0"/>
          <a:stretch/>
        </p:blipFill>
        <p:spPr>
          <a:xfrm>
            <a:off x="582168" y="499872"/>
            <a:ext cx="11027664" cy="5687568"/>
          </a:xfrm>
          <a:prstGeom prst="rect">
            <a:avLst/>
          </a:prstGeom>
          <a:noFill/>
          <a:ln>
            <a:noFill/>
          </a:ln>
        </p:spPr>
      </p:pic>
      <p:sp>
        <p:nvSpPr>
          <p:cNvPr id="79" name="Google Shape;79;p4"/>
          <p:cNvSpPr txBox="1"/>
          <p:nvPr/>
        </p:nvSpPr>
        <p:spPr>
          <a:xfrm>
            <a:off x="944981" y="634441"/>
            <a:ext cx="5668645" cy="7575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4800">
                <a:solidFill>
                  <a:srgbClr val="EC7C30"/>
                </a:solidFill>
                <a:latin typeface="Arial Rounded"/>
                <a:ea typeface="Arial Rounded"/>
                <a:cs typeface="Arial Rounded"/>
                <a:sym typeface="Arial Rounded"/>
              </a:rPr>
              <a:t>Problem Statement</a:t>
            </a:r>
            <a:endParaRPr b="1" sz="4800">
              <a:solidFill>
                <a:schemeClr val="dk1"/>
              </a:solidFill>
              <a:latin typeface="Arial Rounded"/>
              <a:ea typeface="Arial Rounded"/>
              <a:cs typeface="Arial Rounded"/>
              <a:sym typeface="Arial Rounded"/>
            </a:endParaRPr>
          </a:p>
        </p:txBody>
      </p:sp>
      <p:sp>
        <p:nvSpPr>
          <p:cNvPr id="80" name="Google Shape;80;p4"/>
          <p:cNvSpPr txBox="1"/>
          <p:nvPr/>
        </p:nvSpPr>
        <p:spPr>
          <a:xfrm>
            <a:off x="944981" y="1451485"/>
            <a:ext cx="10412095" cy="3685540"/>
          </a:xfrm>
          <a:prstGeom prst="rect">
            <a:avLst/>
          </a:prstGeom>
          <a:noFill/>
          <a:ln>
            <a:noFill/>
          </a:ln>
        </p:spPr>
        <p:txBody>
          <a:bodyPr anchorCtr="0" anchor="t" bIns="0" lIns="0" spcFirstLastPara="1" rIns="0" wrap="square" tIns="165725">
            <a:spAutoFit/>
          </a:bodyPr>
          <a:lstStyle/>
          <a:p>
            <a:pPr indent="-344805" lvl="0" marL="356870" marR="0" rtl="0" algn="l">
              <a:lnSpc>
                <a:spcPct val="100000"/>
              </a:lnSpc>
              <a:spcBef>
                <a:spcPts val="0"/>
              </a:spcBef>
              <a:spcAft>
                <a:spcPts val="0"/>
              </a:spcAft>
              <a:buClr>
                <a:schemeClr val="dk1"/>
              </a:buClr>
              <a:buSzPts val="2000"/>
              <a:buFont typeface="Arial"/>
              <a:buChar char="•"/>
            </a:pPr>
            <a:r>
              <a:rPr b="1" lang="en-US" sz="2000">
                <a:solidFill>
                  <a:schemeClr val="dk1"/>
                </a:solidFill>
                <a:latin typeface="Arial Rounded"/>
                <a:ea typeface="Arial Rounded"/>
                <a:cs typeface="Arial Rounded"/>
                <a:sym typeface="Arial Rounded"/>
              </a:rPr>
              <a:t>Axon's	sales	data	is	disorganized	and	lacks	a	centralized	system,	leading	to</a:t>
            </a:r>
            <a:endParaRPr b="1" sz="2000">
              <a:solidFill>
                <a:schemeClr val="dk1"/>
              </a:solidFill>
              <a:latin typeface="Arial Rounded"/>
              <a:ea typeface="Arial Rounded"/>
              <a:cs typeface="Arial Rounded"/>
              <a:sym typeface="Arial Rounded"/>
            </a:endParaRPr>
          </a:p>
          <a:p>
            <a:pPr indent="0" lvl="0" marL="356870" marR="0" rtl="0" algn="l">
              <a:lnSpc>
                <a:spcPct val="100000"/>
              </a:lnSpc>
              <a:spcBef>
                <a:spcPts val="1200"/>
              </a:spcBef>
              <a:spcAft>
                <a:spcPts val="0"/>
              </a:spcAft>
              <a:buNone/>
            </a:pPr>
            <a:r>
              <a:rPr b="1" lang="en-US" sz="2000">
                <a:solidFill>
                  <a:schemeClr val="dk1"/>
                </a:solidFill>
                <a:latin typeface="Arial Rounded"/>
                <a:ea typeface="Arial Rounded"/>
                <a:cs typeface="Arial Rounded"/>
                <a:sym typeface="Arial Rounded"/>
              </a:rPr>
              <a:t>inaccuracies and making it challenging to make informed decisions.</a:t>
            </a:r>
            <a:endParaRPr b="1" sz="2000">
              <a:solidFill>
                <a:schemeClr val="dk1"/>
              </a:solidFill>
              <a:latin typeface="Arial Rounded"/>
              <a:ea typeface="Arial Rounded"/>
              <a:cs typeface="Arial Rounded"/>
              <a:sym typeface="Arial Rounded"/>
            </a:endParaRPr>
          </a:p>
          <a:p>
            <a:pPr indent="-344805" lvl="0" marL="356870" marR="0" rtl="0" algn="l">
              <a:lnSpc>
                <a:spcPct val="100000"/>
              </a:lnSpc>
              <a:spcBef>
                <a:spcPts val="1205"/>
              </a:spcBef>
              <a:spcAft>
                <a:spcPts val="0"/>
              </a:spcAft>
              <a:buClr>
                <a:schemeClr val="dk1"/>
              </a:buClr>
              <a:buSzPts val="2000"/>
              <a:buFont typeface="Arial"/>
              <a:buChar char="•"/>
            </a:pPr>
            <a:r>
              <a:rPr b="1" lang="en-US" sz="2000">
                <a:solidFill>
                  <a:schemeClr val="dk1"/>
                </a:solidFill>
                <a:latin typeface="Arial Rounded"/>
                <a:ea typeface="Arial Rounded"/>
                <a:cs typeface="Arial Rounded"/>
                <a:sym typeface="Arial Rounded"/>
              </a:rPr>
              <a:t>The absence of a BI tool hampers data analysis, preventing the sales team from</a:t>
            </a:r>
            <a:endParaRPr b="1" sz="2000">
              <a:solidFill>
                <a:schemeClr val="dk1"/>
              </a:solidFill>
              <a:latin typeface="Arial Rounded"/>
              <a:ea typeface="Arial Rounded"/>
              <a:cs typeface="Arial Rounded"/>
              <a:sym typeface="Arial Rounded"/>
            </a:endParaRPr>
          </a:p>
          <a:p>
            <a:pPr indent="0" lvl="0" marL="356870" marR="0" rtl="0" algn="l">
              <a:lnSpc>
                <a:spcPct val="100000"/>
              </a:lnSpc>
              <a:spcBef>
                <a:spcPts val="1200"/>
              </a:spcBef>
              <a:spcAft>
                <a:spcPts val="0"/>
              </a:spcAft>
              <a:buNone/>
            </a:pPr>
            <a:r>
              <a:rPr b="1" lang="en-US" sz="2000">
                <a:solidFill>
                  <a:schemeClr val="dk1"/>
                </a:solidFill>
                <a:latin typeface="Arial Rounded"/>
                <a:ea typeface="Arial Rounded"/>
                <a:cs typeface="Arial Rounded"/>
                <a:sym typeface="Arial Rounded"/>
              </a:rPr>
              <a:t>deriving meaningful insights and understanding market trends.</a:t>
            </a:r>
            <a:endParaRPr b="1" sz="2000">
              <a:solidFill>
                <a:schemeClr val="dk1"/>
              </a:solidFill>
              <a:latin typeface="Arial Rounded"/>
              <a:ea typeface="Arial Rounded"/>
              <a:cs typeface="Arial Rounded"/>
              <a:sym typeface="Arial Rounded"/>
            </a:endParaRPr>
          </a:p>
          <a:p>
            <a:pPr indent="-344805" lvl="0" marL="356870" marR="6985" rtl="0" algn="l">
              <a:lnSpc>
                <a:spcPct val="150100"/>
              </a:lnSpc>
              <a:spcBef>
                <a:spcPts val="0"/>
              </a:spcBef>
              <a:spcAft>
                <a:spcPts val="0"/>
              </a:spcAft>
              <a:buClr>
                <a:schemeClr val="dk1"/>
              </a:buClr>
              <a:buSzPts val="2000"/>
              <a:buFont typeface="Arial"/>
              <a:buChar char="•"/>
            </a:pPr>
            <a:r>
              <a:rPr b="1" lang="en-US" sz="2000">
                <a:solidFill>
                  <a:schemeClr val="dk1"/>
                </a:solidFill>
                <a:latin typeface="Arial Rounded"/>
                <a:ea typeface="Arial Rounded"/>
                <a:cs typeface="Arial Rounded"/>
                <a:sym typeface="Arial Rounded"/>
              </a:rPr>
              <a:t>Management	struggles	to	access	timely	and	accurate	sales	reports,	which  hinders their ability to make decisions based on up-to-date information.</a:t>
            </a:r>
            <a:endParaRPr b="1" sz="2000">
              <a:solidFill>
                <a:schemeClr val="dk1"/>
              </a:solidFill>
              <a:latin typeface="Arial Rounded"/>
              <a:ea typeface="Arial Rounded"/>
              <a:cs typeface="Arial Rounded"/>
              <a:sym typeface="Arial Rounded"/>
            </a:endParaRPr>
          </a:p>
          <a:p>
            <a:pPr indent="-344805" lvl="0" marL="356870" marR="0" rtl="0" algn="l">
              <a:lnSpc>
                <a:spcPct val="100000"/>
              </a:lnSpc>
              <a:spcBef>
                <a:spcPts val="1200"/>
              </a:spcBef>
              <a:spcAft>
                <a:spcPts val="0"/>
              </a:spcAft>
              <a:buClr>
                <a:schemeClr val="dk1"/>
              </a:buClr>
              <a:buSzPts val="2000"/>
              <a:buFont typeface="Arial"/>
              <a:buChar char="•"/>
            </a:pPr>
            <a:r>
              <a:rPr b="1" lang="en-US" sz="2000">
                <a:solidFill>
                  <a:schemeClr val="dk1"/>
                </a:solidFill>
                <a:latin typeface="Arial Rounded"/>
                <a:ea typeface="Arial Rounded"/>
                <a:cs typeface="Arial Rounded"/>
                <a:sym typeface="Arial Rounded"/>
              </a:rPr>
              <a:t>The company is unsure whether to choose Microsoft Power BI or SQL as the BI</a:t>
            </a:r>
            <a:endParaRPr b="1" sz="2000">
              <a:solidFill>
                <a:schemeClr val="dk1"/>
              </a:solidFill>
              <a:latin typeface="Arial Rounded"/>
              <a:ea typeface="Arial Rounded"/>
              <a:cs typeface="Arial Rounded"/>
              <a:sym typeface="Arial Rounded"/>
            </a:endParaRPr>
          </a:p>
          <a:p>
            <a:pPr indent="0" lvl="0" marL="356870" marR="0" rtl="0" algn="l">
              <a:lnSpc>
                <a:spcPct val="100000"/>
              </a:lnSpc>
              <a:spcBef>
                <a:spcPts val="1200"/>
              </a:spcBef>
              <a:spcAft>
                <a:spcPts val="0"/>
              </a:spcAft>
              <a:buNone/>
            </a:pPr>
            <a:r>
              <a:rPr b="1" lang="en-US" sz="2000">
                <a:solidFill>
                  <a:schemeClr val="dk1"/>
                </a:solidFill>
                <a:latin typeface="Arial Rounded"/>
                <a:ea typeface="Arial Rounded"/>
                <a:cs typeface="Arial Rounded"/>
                <a:sym typeface="Arial Rounded"/>
              </a:rPr>
              <a:t>tool, leading to uncertainty about tool compatibility and capabilities.</a:t>
            </a:r>
            <a:endParaRPr b="1" sz="2000">
              <a:solidFill>
                <a:schemeClr val="dk1"/>
              </a:solidFill>
              <a:latin typeface="Arial Rounded"/>
              <a:ea typeface="Arial Rounded"/>
              <a:cs typeface="Arial Rounded"/>
              <a:sym typeface="Arial Rounded"/>
            </a:endParaRPr>
          </a:p>
        </p:txBody>
      </p:sp>
      <p:sp>
        <p:nvSpPr>
          <p:cNvPr id="81" name="Google Shape;81;p4"/>
          <p:cNvSpPr txBox="1"/>
          <p:nvPr>
            <p:ph type="title"/>
          </p:nvPr>
        </p:nvSpPr>
        <p:spPr>
          <a:xfrm>
            <a:off x="10140950" y="219278"/>
            <a:ext cx="1334770" cy="848994"/>
          </a:xfrm>
          <a:prstGeom prst="rect">
            <a:avLst/>
          </a:prstGeom>
          <a:noFill/>
          <a:ln>
            <a:noFill/>
          </a:ln>
        </p:spPr>
        <p:txBody>
          <a:bodyPr anchorCtr="0" anchor="t" bIns="0" lIns="0" spcFirstLastPara="1" rIns="0" wrap="square" tIns="12700">
            <a:spAutoFit/>
          </a:bodyPr>
          <a:lstStyle/>
          <a:p>
            <a:pPr indent="0" lvl="0" marL="38100" rtl="0" algn="l">
              <a:lnSpc>
                <a:spcPct val="100000"/>
              </a:lnSpc>
              <a:spcBef>
                <a:spcPts val="0"/>
              </a:spcBef>
              <a:spcAft>
                <a:spcPts val="0"/>
              </a:spcAft>
              <a:buNone/>
            </a:pPr>
            <a:r>
              <a:rPr lang="en-US"/>
              <a:t>C</a:t>
            </a:r>
            <a:r>
              <a:rPr baseline="30000" lang="en-US" sz="8100">
                <a:solidFill>
                  <a:srgbClr val="000000"/>
                </a:solidFill>
                <a:latin typeface="Arial"/>
                <a:ea typeface="Arial"/>
                <a:cs typeface="Arial"/>
                <a:sym typeface="Arial"/>
              </a:rPr>
              <a:t>A</a:t>
            </a:r>
            <a:r>
              <a:rPr lang="en-US" sz="1700"/>
              <a:t>lass</a:t>
            </a:r>
            <a:r>
              <a:rPr baseline="30000" lang="en-US" sz="6000">
                <a:solidFill>
                  <a:srgbClr val="000000"/>
                </a:solidFill>
                <a:latin typeface="Arial"/>
                <a:ea typeface="Arial"/>
                <a:cs typeface="Arial"/>
                <a:sym typeface="Arial"/>
              </a:rPr>
              <a:t>x</a:t>
            </a:r>
            <a:r>
              <a:rPr lang="en-US" sz="1700"/>
              <a:t>ic</a:t>
            </a:r>
            <a:r>
              <a:rPr baseline="30000" lang="en-US" sz="6000">
                <a:solidFill>
                  <a:srgbClr val="000000"/>
                </a:solidFill>
                <a:latin typeface="Arial"/>
                <a:ea typeface="Arial"/>
                <a:cs typeface="Arial"/>
                <a:sym typeface="Arial"/>
              </a:rPr>
              <a:t>o</a:t>
            </a:r>
            <a:r>
              <a:rPr lang="en-US" sz="1700"/>
              <a:t>ca</a:t>
            </a:r>
            <a:r>
              <a:rPr baseline="30000" lang="en-US" sz="6000">
                <a:solidFill>
                  <a:srgbClr val="000000"/>
                </a:solidFill>
                <a:latin typeface="Arial"/>
                <a:ea typeface="Arial"/>
                <a:cs typeface="Arial"/>
                <a:sym typeface="Arial"/>
              </a:rPr>
              <a:t>n</a:t>
            </a:r>
            <a:r>
              <a:rPr lang="en-US" sz="1700"/>
              <a:t>rs</a:t>
            </a:r>
            <a:endParaRPr sz="1700">
              <a:latin typeface="Arial"/>
              <a:ea typeface="Arial"/>
              <a:cs typeface="Arial"/>
              <a:sym typeface="Arial"/>
            </a:endParaRPr>
          </a:p>
        </p:txBody>
      </p:sp>
      <p:pic>
        <p:nvPicPr>
          <p:cNvPr id="82" name="Google Shape;82;p4"/>
          <p:cNvPicPr preferRelativeResize="0"/>
          <p:nvPr/>
        </p:nvPicPr>
        <p:blipFill rotWithShape="1">
          <a:blip r:embed="rId4">
            <a:alphaModFix/>
          </a:blip>
          <a:srcRect b="0" l="0" r="0" t="0"/>
          <a:stretch/>
        </p:blipFill>
        <p:spPr>
          <a:xfrm>
            <a:off x="10393680" y="6095"/>
            <a:ext cx="1170431" cy="5303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id="87" name="Google Shape;87;p5"/>
          <p:cNvPicPr preferRelativeResize="0"/>
          <p:nvPr/>
        </p:nvPicPr>
        <p:blipFill rotWithShape="1">
          <a:blip r:embed="rId3">
            <a:alphaModFix/>
          </a:blip>
          <a:srcRect b="0" l="0" r="0" t="0"/>
          <a:stretch/>
        </p:blipFill>
        <p:spPr>
          <a:xfrm>
            <a:off x="582168" y="499872"/>
            <a:ext cx="11027664" cy="5687568"/>
          </a:xfrm>
          <a:prstGeom prst="rect">
            <a:avLst/>
          </a:prstGeom>
          <a:noFill/>
          <a:ln>
            <a:noFill/>
          </a:ln>
        </p:spPr>
      </p:pic>
      <p:sp>
        <p:nvSpPr>
          <p:cNvPr id="88" name="Google Shape;88;p5"/>
          <p:cNvSpPr txBox="1"/>
          <p:nvPr/>
        </p:nvSpPr>
        <p:spPr>
          <a:xfrm>
            <a:off x="750823" y="300888"/>
            <a:ext cx="10205720" cy="5169535"/>
          </a:xfrm>
          <a:prstGeom prst="rect">
            <a:avLst/>
          </a:prstGeom>
          <a:noFill/>
          <a:ln>
            <a:noFill/>
          </a:ln>
        </p:spPr>
        <p:txBody>
          <a:bodyPr anchorCtr="0" anchor="t" bIns="0" lIns="0" spcFirstLastPara="1" rIns="0" wrap="square" tIns="329550">
            <a:spAutoFit/>
          </a:bodyPr>
          <a:lstStyle/>
          <a:p>
            <a:pPr indent="0" lvl="0" marL="113029" marR="0" rtl="0" algn="l">
              <a:lnSpc>
                <a:spcPct val="100000"/>
              </a:lnSpc>
              <a:spcBef>
                <a:spcPts val="0"/>
              </a:spcBef>
              <a:spcAft>
                <a:spcPts val="0"/>
              </a:spcAft>
              <a:buNone/>
            </a:pPr>
            <a:r>
              <a:rPr b="1" lang="en-US" sz="4800">
                <a:solidFill>
                  <a:srgbClr val="EC7C30"/>
                </a:solidFill>
                <a:latin typeface="Arial Rounded"/>
                <a:ea typeface="Arial Rounded"/>
                <a:cs typeface="Arial Rounded"/>
                <a:sym typeface="Arial Rounded"/>
              </a:rPr>
              <a:t>Dataset</a:t>
            </a:r>
            <a:endParaRPr b="1" sz="4800">
              <a:solidFill>
                <a:schemeClr val="dk1"/>
              </a:solidFill>
              <a:latin typeface="Arial Rounded"/>
              <a:ea typeface="Arial Rounded"/>
              <a:cs typeface="Arial Rounded"/>
              <a:sym typeface="Arial Rounded"/>
            </a:endParaRPr>
          </a:p>
          <a:p>
            <a:pPr indent="-344805" lvl="0" marL="356870" marR="0" rtl="0" algn="l">
              <a:lnSpc>
                <a:spcPct val="100000"/>
              </a:lnSpc>
              <a:spcBef>
                <a:spcPts val="1030"/>
              </a:spcBef>
              <a:spcAft>
                <a:spcPts val="0"/>
              </a:spcAft>
              <a:buClr>
                <a:schemeClr val="dk1"/>
              </a:buClr>
              <a:buSzPts val="2000"/>
              <a:buFont typeface="Arial"/>
              <a:buChar char="•"/>
            </a:pPr>
            <a:r>
              <a:rPr b="1" lang="en-US" sz="2000">
                <a:solidFill>
                  <a:schemeClr val="dk1"/>
                </a:solidFill>
                <a:latin typeface="Arial Rounded"/>
                <a:ea typeface="Arial Rounded"/>
                <a:cs typeface="Arial Rounded"/>
                <a:sym typeface="Arial Rounded"/>
              </a:rPr>
              <a:t>Customers: stores customer’s data.</a:t>
            </a:r>
            <a:endParaRPr b="1" sz="2000">
              <a:solidFill>
                <a:schemeClr val="dk1"/>
              </a:solidFill>
              <a:latin typeface="Arial Rounded"/>
              <a:ea typeface="Arial Rounded"/>
              <a:cs typeface="Arial Rounded"/>
              <a:sym typeface="Arial Rounded"/>
            </a:endParaRPr>
          </a:p>
          <a:p>
            <a:pPr indent="-344805" lvl="0" marL="356870" marR="0" rtl="0" algn="l">
              <a:lnSpc>
                <a:spcPct val="100000"/>
              </a:lnSpc>
              <a:spcBef>
                <a:spcPts val="1205"/>
              </a:spcBef>
              <a:spcAft>
                <a:spcPts val="0"/>
              </a:spcAft>
              <a:buClr>
                <a:schemeClr val="dk1"/>
              </a:buClr>
              <a:buSzPts val="2000"/>
              <a:buFont typeface="Arial"/>
              <a:buChar char="•"/>
            </a:pPr>
            <a:r>
              <a:rPr b="1" lang="en-US" sz="2000">
                <a:solidFill>
                  <a:schemeClr val="dk1"/>
                </a:solidFill>
                <a:latin typeface="Arial Rounded"/>
                <a:ea typeface="Arial Rounded"/>
                <a:cs typeface="Arial Rounded"/>
                <a:sym typeface="Arial Rounded"/>
              </a:rPr>
              <a:t>Products: stores a list of scale model cars.</a:t>
            </a:r>
            <a:endParaRPr b="1" sz="2000">
              <a:solidFill>
                <a:schemeClr val="dk1"/>
              </a:solidFill>
              <a:latin typeface="Arial Rounded"/>
              <a:ea typeface="Arial Rounded"/>
              <a:cs typeface="Arial Rounded"/>
              <a:sym typeface="Arial Rounded"/>
            </a:endParaRPr>
          </a:p>
          <a:p>
            <a:pPr indent="-344805" lvl="0" marL="356870" marR="0" rtl="0" algn="l">
              <a:lnSpc>
                <a:spcPct val="100000"/>
              </a:lnSpc>
              <a:spcBef>
                <a:spcPts val="1200"/>
              </a:spcBef>
              <a:spcAft>
                <a:spcPts val="0"/>
              </a:spcAft>
              <a:buClr>
                <a:schemeClr val="dk1"/>
              </a:buClr>
              <a:buSzPts val="2000"/>
              <a:buFont typeface="Arial"/>
              <a:buChar char="•"/>
            </a:pPr>
            <a:r>
              <a:rPr b="1" lang="en-US" sz="2000">
                <a:solidFill>
                  <a:schemeClr val="dk1"/>
                </a:solidFill>
                <a:latin typeface="Arial Rounded"/>
                <a:ea typeface="Arial Rounded"/>
                <a:cs typeface="Arial Rounded"/>
                <a:sym typeface="Arial Rounded"/>
              </a:rPr>
              <a:t>ProductLines: stores a list of product line categories.</a:t>
            </a:r>
            <a:endParaRPr b="1" sz="2000">
              <a:solidFill>
                <a:schemeClr val="dk1"/>
              </a:solidFill>
              <a:latin typeface="Arial Rounded"/>
              <a:ea typeface="Arial Rounded"/>
              <a:cs typeface="Arial Rounded"/>
              <a:sym typeface="Arial Rounded"/>
            </a:endParaRPr>
          </a:p>
          <a:p>
            <a:pPr indent="-344805" lvl="0" marL="356870" marR="0" rtl="0" algn="l">
              <a:lnSpc>
                <a:spcPct val="100000"/>
              </a:lnSpc>
              <a:spcBef>
                <a:spcPts val="1200"/>
              </a:spcBef>
              <a:spcAft>
                <a:spcPts val="0"/>
              </a:spcAft>
              <a:buClr>
                <a:schemeClr val="dk1"/>
              </a:buClr>
              <a:buSzPts val="2000"/>
              <a:buFont typeface="Arial"/>
              <a:buChar char="•"/>
            </a:pPr>
            <a:r>
              <a:rPr b="1" lang="en-US" sz="2000">
                <a:solidFill>
                  <a:schemeClr val="dk1"/>
                </a:solidFill>
                <a:latin typeface="Arial Rounded"/>
                <a:ea typeface="Arial Rounded"/>
                <a:cs typeface="Arial Rounded"/>
                <a:sym typeface="Arial Rounded"/>
              </a:rPr>
              <a:t>Orders: stores sales orders placed by customers.</a:t>
            </a:r>
            <a:endParaRPr b="1" sz="2000">
              <a:solidFill>
                <a:schemeClr val="dk1"/>
              </a:solidFill>
              <a:latin typeface="Arial Rounded"/>
              <a:ea typeface="Arial Rounded"/>
              <a:cs typeface="Arial Rounded"/>
              <a:sym typeface="Arial Rounded"/>
            </a:endParaRPr>
          </a:p>
          <a:p>
            <a:pPr indent="-344805" lvl="0" marL="356870" marR="0" rtl="0" algn="l">
              <a:lnSpc>
                <a:spcPct val="100000"/>
              </a:lnSpc>
              <a:spcBef>
                <a:spcPts val="1205"/>
              </a:spcBef>
              <a:spcAft>
                <a:spcPts val="0"/>
              </a:spcAft>
              <a:buClr>
                <a:schemeClr val="dk1"/>
              </a:buClr>
              <a:buSzPts val="2000"/>
              <a:buFont typeface="Arial"/>
              <a:buChar char="•"/>
            </a:pPr>
            <a:r>
              <a:rPr b="1" lang="en-US" sz="2000">
                <a:solidFill>
                  <a:schemeClr val="dk1"/>
                </a:solidFill>
                <a:latin typeface="Arial Rounded"/>
                <a:ea typeface="Arial Rounded"/>
                <a:cs typeface="Arial Rounded"/>
                <a:sym typeface="Arial Rounded"/>
              </a:rPr>
              <a:t>OrderDetails: stores sales order line items for each sales order.</a:t>
            </a:r>
            <a:endParaRPr b="1" sz="2000">
              <a:solidFill>
                <a:schemeClr val="dk1"/>
              </a:solidFill>
              <a:latin typeface="Arial Rounded"/>
              <a:ea typeface="Arial Rounded"/>
              <a:cs typeface="Arial Rounded"/>
              <a:sym typeface="Arial Rounded"/>
            </a:endParaRPr>
          </a:p>
          <a:p>
            <a:pPr indent="-344805" lvl="0" marL="356870" marR="0" rtl="0" algn="l">
              <a:lnSpc>
                <a:spcPct val="100000"/>
              </a:lnSpc>
              <a:spcBef>
                <a:spcPts val="1200"/>
              </a:spcBef>
              <a:spcAft>
                <a:spcPts val="0"/>
              </a:spcAft>
              <a:buClr>
                <a:schemeClr val="dk1"/>
              </a:buClr>
              <a:buSzPts val="2000"/>
              <a:buFont typeface="Arial"/>
              <a:buChar char="•"/>
            </a:pPr>
            <a:r>
              <a:rPr b="1" lang="en-US" sz="2000">
                <a:solidFill>
                  <a:schemeClr val="dk1"/>
                </a:solidFill>
                <a:latin typeface="Arial Rounded"/>
                <a:ea typeface="Arial Rounded"/>
                <a:cs typeface="Arial Rounded"/>
                <a:sym typeface="Arial Rounded"/>
              </a:rPr>
              <a:t>Payments: stores payments made by customers based on their accounts.</a:t>
            </a:r>
            <a:endParaRPr b="1" sz="2000">
              <a:solidFill>
                <a:schemeClr val="dk1"/>
              </a:solidFill>
              <a:latin typeface="Arial Rounded"/>
              <a:ea typeface="Arial Rounded"/>
              <a:cs typeface="Arial Rounded"/>
              <a:sym typeface="Arial Rounded"/>
            </a:endParaRPr>
          </a:p>
          <a:p>
            <a:pPr indent="-344805" lvl="0" marL="356870" marR="0" rtl="0" algn="l">
              <a:lnSpc>
                <a:spcPct val="100000"/>
              </a:lnSpc>
              <a:spcBef>
                <a:spcPts val="1200"/>
              </a:spcBef>
              <a:spcAft>
                <a:spcPts val="0"/>
              </a:spcAft>
              <a:buClr>
                <a:schemeClr val="dk1"/>
              </a:buClr>
              <a:buSzPts val="2000"/>
              <a:buFont typeface="Arial"/>
              <a:buChar char="•"/>
            </a:pPr>
            <a:r>
              <a:rPr b="1" lang="en-US" sz="2000">
                <a:solidFill>
                  <a:schemeClr val="dk1"/>
                </a:solidFill>
                <a:latin typeface="Arial Rounded"/>
                <a:ea typeface="Arial Rounded"/>
                <a:cs typeface="Arial Rounded"/>
                <a:sym typeface="Arial Rounded"/>
              </a:rPr>
              <a:t>Employees: stores all employee information as well as the organization structure</a:t>
            </a:r>
            <a:endParaRPr b="1" sz="2000">
              <a:solidFill>
                <a:schemeClr val="dk1"/>
              </a:solidFill>
              <a:latin typeface="Arial Rounded"/>
              <a:ea typeface="Arial Rounded"/>
              <a:cs typeface="Arial Rounded"/>
              <a:sym typeface="Arial Rounded"/>
            </a:endParaRPr>
          </a:p>
          <a:p>
            <a:pPr indent="0" lvl="0" marL="356870" marR="0" rtl="0" algn="l">
              <a:lnSpc>
                <a:spcPct val="100000"/>
              </a:lnSpc>
              <a:spcBef>
                <a:spcPts val="1205"/>
              </a:spcBef>
              <a:spcAft>
                <a:spcPts val="0"/>
              </a:spcAft>
              <a:buNone/>
            </a:pPr>
            <a:r>
              <a:rPr b="1" lang="en-US" sz="2000">
                <a:solidFill>
                  <a:schemeClr val="dk1"/>
                </a:solidFill>
                <a:latin typeface="Arial Rounded"/>
                <a:ea typeface="Arial Rounded"/>
                <a:cs typeface="Arial Rounded"/>
                <a:sym typeface="Arial Rounded"/>
              </a:rPr>
              <a:t>such as who reports to whom.</a:t>
            </a:r>
            <a:endParaRPr b="1" sz="2000">
              <a:solidFill>
                <a:schemeClr val="dk1"/>
              </a:solidFill>
              <a:latin typeface="Arial Rounded"/>
              <a:ea typeface="Arial Rounded"/>
              <a:cs typeface="Arial Rounded"/>
              <a:sym typeface="Arial Rounded"/>
            </a:endParaRPr>
          </a:p>
          <a:p>
            <a:pPr indent="-344805" lvl="0" marL="356870" marR="0" rtl="0" algn="l">
              <a:lnSpc>
                <a:spcPct val="100000"/>
              </a:lnSpc>
              <a:spcBef>
                <a:spcPts val="1200"/>
              </a:spcBef>
              <a:spcAft>
                <a:spcPts val="0"/>
              </a:spcAft>
              <a:buClr>
                <a:schemeClr val="dk1"/>
              </a:buClr>
              <a:buSzPts val="2000"/>
              <a:buFont typeface="Arial"/>
              <a:buChar char="•"/>
            </a:pPr>
            <a:r>
              <a:rPr b="1" lang="en-US" sz="2000">
                <a:solidFill>
                  <a:schemeClr val="dk1"/>
                </a:solidFill>
                <a:latin typeface="Arial Rounded"/>
                <a:ea typeface="Arial Rounded"/>
                <a:cs typeface="Arial Rounded"/>
                <a:sym typeface="Arial Rounded"/>
              </a:rPr>
              <a:t>Offices: stores sales office data</a:t>
            </a:r>
            <a:endParaRPr b="1" sz="2000">
              <a:solidFill>
                <a:schemeClr val="dk1"/>
              </a:solidFill>
              <a:latin typeface="Arial Rounded"/>
              <a:ea typeface="Arial Rounded"/>
              <a:cs typeface="Arial Rounded"/>
              <a:sym typeface="Arial Rounded"/>
            </a:endParaRPr>
          </a:p>
        </p:txBody>
      </p:sp>
      <p:sp>
        <p:nvSpPr>
          <p:cNvPr id="89" name="Google Shape;89;p5"/>
          <p:cNvSpPr txBox="1"/>
          <p:nvPr>
            <p:ph type="title"/>
          </p:nvPr>
        </p:nvSpPr>
        <p:spPr>
          <a:xfrm>
            <a:off x="10022078" y="118694"/>
            <a:ext cx="1334770" cy="848994"/>
          </a:xfrm>
          <a:prstGeom prst="rect">
            <a:avLst/>
          </a:prstGeom>
          <a:noFill/>
          <a:ln>
            <a:noFill/>
          </a:ln>
        </p:spPr>
        <p:txBody>
          <a:bodyPr anchorCtr="0" anchor="t" bIns="0" lIns="0" spcFirstLastPara="1" rIns="0" wrap="square" tIns="12700">
            <a:spAutoFit/>
          </a:bodyPr>
          <a:lstStyle/>
          <a:p>
            <a:pPr indent="0" lvl="0" marL="38100" rtl="0" algn="l">
              <a:lnSpc>
                <a:spcPct val="100000"/>
              </a:lnSpc>
              <a:spcBef>
                <a:spcPts val="0"/>
              </a:spcBef>
              <a:spcAft>
                <a:spcPts val="0"/>
              </a:spcAft>
              <a:buNone/>
            </a:pPr>
            <a:r>
              <a:rPr lang="en-US"/>
              <a:t>C</a:t>
            </a:r>
            <a:r>
              <a:rPr baseline="30000" lang="en-US" sz="8100">
                <a:solidFill>
                  <a:srgbClr val="000000"/>
                </a:solidFill>
                <a:latin typeface="Arial"/>
                <a:ea typeface="Arial"/>
                <a:cs typeface="Arial"/>
                <a:sym typeface="Arial"/>
              </a:rPr>
              <a:t>A</a:t>
            </a:r>
            <a:r>
              <a:rPr lang="en-US" sz="1700"/>
              <a:t>lass</a:t>
            </a:r>
            <a:r>
              <a:rPr baseline="30000" lang="en-US" sz="6000">
                <a:solidFill>
                  <a:srgbClr val="000000"/>
                </a:solidFill>
                <a:latin typeface="Arial"/>
                <a:ea typeface="Arial"/>
                <a:cs typeface="Arial"/>
                <a:sym typeface="Arial"/>
              </a:rPr>
              <a:t>x</a:t>
            </a:r>
            <a:r>
              <a:rPr lang="en-US" sz="1700"/>
              <a:t>ic</a:t>
            </a:r>
            <a:r>
              <a:rPr baseline="30000" lang="en-US" sz="6000">
                <a:solidFill>
                  <a:srgbClr val="000000"/>
                </a:solidFill>
                <a:latin typeface="Arial"/>
                <a:ea typeface="Arial"/>
                <a:cs typeface="Arial"/>
                <a:sym typeface="Arial"/>
              </a:rPr>
              <a:t>o</a:t>
            </a:r>
            <a:r>
              <a:rPr lang="en-US" sz="1700"/>
              <a:t>ca</a:t>
            </a:r>
            <a:r>
              <a:rPr baseline="30000" lang="en-US" sz="6000">
                <a:solidFill>
                  <a:srgbClr val="000000"/>
                </a:solidFill>
                <a:latin typeface="Arial"/>
                <a:ea typeface="Arial"/>
                <a:cs typeface="Arial"/>
                <a:sym typeface="Arial"/>
              </a:rPr>
              <a:t>n</a:t>
            </a:r>
            <a:r>
              <a:rPr lang="en-US" sz="1700"/>
              <a:t>rs</a:t>
            </a:r>
            <a:endParaRPr sz="1700">
              <a:latin typeface="Arial"/>
              <a:ea typeface="Arial"/>
              <a:cs typeface="Arial"/>
              <a:sym typeface="Arial"/>
            </a:endParaRPr>
          </a:p>
        </p:txBody>
      </p:sp>
      <p:pic>
        <p:nvPicPr>
          <p:cNvPr id="90" name="Google Shape;90;p5"/>
          <p:cNvPicPr preferRelativeResize="0"/>
          <p:nvPr/>
        </p:nvPicPr>
        <p:blipFill rotWithShape="1">
          <a:blip r:embed="rId4">
            <a:alphaModFix/>
          </a:blip>
          <a:srcRect b="0" l="0" r="0" t="0"/>
          <a:stretch/>
        </p:blipFill>
        <p:spPr>
          <a:xfrm>
            <a:off x="10274807" y="0"/>
            <a:ext cx="1170431" cy="43586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4" name="Shape 94"/>
        <p:cNvGrpSpPr/>
        <p:nvPr/>
      </p:nvGrpSpPr>
      <p:grpSpPr>
        <a:xfrm>
          <a:off x="0" y="0"/>
          <a:ext cx="0" cy="0"/>
          <a:chOff x="0" y="0"/>
          <a:chExt cx="0" cy="0"/>
        </a:xfrm>
      </p:grpSpPr>
      <p:sp>
        <p:nvSpPr>
          <p:cNvPr id="95" name="Google Shape;95;p6"/>
          <p:cNvSpPr/>
          <p:nvPr/>
        </p:nvSpPr>
        <p:spPr>
          <a:xfrm>
            <a:off x="0" y="499872"/>
            <a:ext cx="192405" cy="5687695"/>
          </a:xfrm>
          <a:custGeom>
            <a:rect b="b" l="l" r="r" t="t"/>
            <a:pathLst>
              <a:path extrusionOk="0" h="5687695" w="192405">
                <a:moveTo>
                  <a:pt x="192024" y="0"/>
                </a:moveTo>
                <a:lnTo>
                  <a:pt x="0" y="0"/>
                </a:lnTo>
                <a:lnTo>
                  <a:pt x="0" y="5687568"/>
                </a:lnTo>
                <a:lnTo>
                  <a:pt x="192024" y="5687568"/>
                </a:lnTo>
                <a:lnTo>
                  <a:pt x="192024" y="0"/>
                </a:lnTo>
                <a:close/>
              </a:path>
            </a:pathLst>
          </a:custGeom>
          <a:solidFill>
            <a:srgbClr val="EC7C3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96" name="Google Shape;96;p6"/>
          <p:cNvPicPr preferRelativeResize="0"/>
          <p:nvPr/>
        </p:nvPicPr>
        <p:blipFill rotWithShape="1">
          <a:blip r:embed="rId3">
            <a:alphaModFix/>
          </a:blip>
          <a:srcRect b="0" l="0" r="0" t="0"/>
          <a:stretch/>
        </p:blipFill>
        <p:spPr>
          <a:xfrm>
            <a:off x="582168" y="499872"/>
            <a:ext cx="11027664" cy="5687568"/>
          </a:xfrm>
          <a:prstGeom prst="rect">
            <a:avLst/>
          </a:prstGeom>
          <a:noFill/>
          <a:ln>
            <a:noFill/>
          </a:ln>
        </p:spPr>
      </p:pic>
      <p:sp>
        <p:nvSpPr>
          <p:cNvPr id="97" name="Google Shape;97;p6"/>
          <p:cNvSpPr txBox="1"/>
          <p:nvPr/>
        </p:nvSpPr>
        <p:spPr>
          <a:xfrm>
            <a:off x="851408" y="618235"/>
            <a:ext cx="8187055" cy="7569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4800">
                <a:solidFill>
                  <a:srgbClr val="EC7C30"/>
                </a:solidFill>
                <a:latin typeface="Arial Rounded"/>
                <a:ea typeface="Arial Rounded"/>
                <a:cs typeface="Arial Rounded"/>
                <a:sym typeface="Arial Rounded"/>
              </a:rPr>
              <a:t>Entity	Relationship	Diagram</a:t>
            </a:r>
            <a:endParaRPr b="1" sz="4800">
              <a:solidFill>
                <a:schemeClr val="dk1"/>
              </a:solidFill>
              <a:latin typeface="Arial Rounded"/>
              <a:ea typeface="Arial Rounded"/>
              <a:cs typeface="Arial Rounded"/>
              <a:sym typeface="Arial Rounded"/>
            </a:endParaRPr>
          </a:p>
        </p:txBody>
      </p:sp>
      <p:pic>
        <p:nvPicPr>
          <p:cNvPr id="98" name="Google Shape;98;p6"/>
          <p:cNvPicPr preferRelativeResize="0"/>
          <p:nvPr/>
        </p:nvPicPr>
        <p:blipFill rotWithShape="1">
          <a:blip r:embed="rId4">
            <a:alphaModFix/>
          </a:blip>
          <a:srcRect b="0" l="0" r="0" t="0"/>
          <a:stretch/>
        </p:blipFill>
        <p:spPr>
          <a:xfrm>
            <a:off x="835152" y="1447800"/>
            <a:ext cx="9841994" cy="4568952"/>
          </a:xfrm>
          <a:prstGeom prst="rect">
            <a:avLst/>
          </a:prstGeom>
          <a:noFill/>
          <a:ln>
            <a:noFill/>
          </a:ln>
        </p:spPr>
      </p:pic>
      <p:sp>
        <p:nvSpPr>
          <p:cNvPr id="99" name="Google Shape;99;p6"/>
          <p:cNvSpPr txBox="1"/>
          <p:nvPr>
            <p:ph type="title"/>
          </p:nvPr>
        </p:nvSpPr>
        <p:spPr>
          <a:xfrm>
            <a:off x="10022078" y="118694"/>
            <a:ext cx="1334770" cy="848994"/>
          </a:xfrm>
          <a:prstGeom prst="rect">
            <a:avLst/>
          </a:prstGeom>
          <a:noFill/>
          <a:ln>
            <a:noFill/>
          </a:ln>
        </p:spPr>
        <p:txBody>
          <a:bodyPr anchorCtr="0" anchor="t" bIns="0" lIns="0" spcFirstLastPara="1" rIns="0" wrap="square" tIns="12700">
            <a:spAutoFit/>
          </a:bodyPr>
          <a:lstStyle/>
          <a:p>
            <a:pPr indent="0" lvl="0" marL="38100" rtl="0" algn="l">
              <a:lnSpc>
                <a:spcPct val="100000"/>
              </a:lnSpc>
              <a:spcBef>
                <a:spcPts val="0"/>
              </a:spcBef>
              <a:spcAft>
                <a:spcPts val="0"/>
              </a:spcAft>
              <a:buNone/>
            </a:pPr>
            <a:r>
              <a:rPr lang="en-US"/>
              <a:t>C</a:t>
            </a:r>
            <a:r>
              <a:rPr baseline="30000" lang="en-US" sz="8100">
                <a:solidFill>
                  <a:srgbClr val="000000"/>
                </a:solidFill>
                <a:latin typeface="Arial"/>
                <a:ea typeface="Arial"/>
                <a:cs typeface="Arial"/>
                <a:sym typeface="Arial"/>
              </a:rPr>
              <a:t>A</a:t>
            </a:r>
            <a:r>
              <a:rPr lang="en-US" sz="1700"/>
              <a:t>lass</a:t>
            </a:r>
            <a:r>
              <a:rPr baseline="30000" lang="en-US" sz="6000">
                <a:solidFill>
                  <a:srgbClr val="000000"/>
                </a:solidFill>
                <a:latin typeface="Arial"/>
                <a:ea typeface="Arial"/>
                <a:cs typeface="Arial"/>
                <a:sym typeface="Arial"/>
              </a:rPr>
              <a:t>x</a:t>
            </a:r>
            <a:r>
              <a:rPr lang="en-US" sz="1700"/>
              <a:t>ic</a:t>
            </a:r>
            <a:r>
              <a:rPr baseline="30000" lang="en-US" sz="6000">
                <a:solidFill>
                  <a:srgbClr val="000000"/>
                </a:solidFill>
                <a:latin typeface="Arial"/>
                <a:ea typeface="Arial"/>
                <a:cs typeface="Arial"/>
                <a:sym typeface="Arial"/>
              </a:rPr>
              <a:t>o</a:t>
            </a:r>
            <a:r>
              <a:rPr lang="en-US" sz="1700"/>
              <a:t>ca</a:t>
            </a:r>
            <a:r>
              <a:rPr baseline="30000" lang="en-US" sz="6000">
                <a:solidFill>
                  <a:srgbClr val="000000"/>
                </a:solidFill>
                <a:latin typeface="Arial"/>
                <a:ea typeface="Arial"/>
                <a:cs typeface="Arial"/>
                <a:sym typeface="Arial"/>
              </a:rPr>
              <a:t>n</a:t>
            </a:r>
            <a:r>
              <a:rPr lang="en-US" sz="1700"/>
              <a:t>rs</a:t>
            </a:r>
            <a:endParaRPr sz="1700">
              <a:latin typeface="Arial"/>
              <a:ea typeface="Arial"/>
              <a:cs typeface="Arial"/>
              <a:sym typeface="Arial"/>
            </a:endParaRPr>
          </a:p>
        </p:txBody>
      </p:sp>
      <p:pic>
        <p:nvPicPr>
          <p:cNvPr id="100" name="Google Shape;100;p6"/>
          <p:cNvPicPr preferRelativeResize="0"/>
          <p:nvPr/>
        </p:nvPicPr>
        <p:blipFill rotWithShape="1">
          <a:blip r:embed="rId5">
            <a:alphaModFix/>
          </a:blip>
          <a:srcRect b="0" l="0" r="0" t="0"/>
          <a:stretch/>
        </p:blipFill>
        <p:spPr>
          <a:xfrm>
            <a:off x="10274807" y="0"/>
            <a:ext cx="1170431" cy="43586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7"/>
          <p:cNvSpPr txBox="1"/>
          <p:nvPr/>
        </p:nvSpPr>
        <p:spPr>
          <a:xfrm>
            <a:off x="851408" y="618235"/>
            <a:ext cx="3445510" cy="1416050"/>
          </a:xfrm>
          <a:prstGeom prst="rect">
            <a:avLst/>
          </a:prstGeom>
          <a:noFill/>
          <a:ln>
            <a:noFill/>
          </a:ln>
        </p:spPr>
        <p:txBody>
          <a:bodyPr anchorCtr="0" anchor="t" bIns="0" lIns="0" spcFirstLastPara="1" rIns="0" wrap="square" tIns="94600">
            <a:spAutoFit/>
          </a:bodyPr>
          <a:lstStyle/>
          <a:p>
            <a:pPr indent="0" lvl="0" marL="12700" marR="5080" rtl="0" algn="l">
              <a:lnSpc>
                <a:spcPct val="108124"/>
              </a:lnSpc>
              <a:spcBef>
                <a:spcPts val="0"/>
              </a:spcBef>
              <a:spcAft>
                <a:spcPts val="0"/>
              </a:spcAft>
              <a:buNone/>
            </a:pPr>
            <a:r>
              <a:rPr b="1" lang="en-US" sz="4800">
                <a:solidFill>
                  <a:srgbClr val="EC7C30"/>
                </a:solidFill>
                <a:latin typeface="Arial Rounded"/>
                <a:ea typeface="Arial Rounded"/>
                <a:cs typeface="Arial Rounded"/>
                <a:sym typeface="Arial Rounded"/>
              </a:rPr>
              <a:t>Uncovering  Insights</a:t>
            </a:r>
            <a:endParaRPr b="1" sz="4800">
              <a:solidFill>
                <a:schemeClr val="dk1"/>
              </a:solidFill>
              <a:latin typeface="Arial Rounded"/>
              <a:ea typeface="Arial Rounded"/>
              <a:cs typeface="Arial Rounded"/>
              <a:sym typeface="Arial Rounded"/>
            </a:endParaRPr>
          </a:p>
        </p:txBody>
      </p:sp>
      <p:sp>
        <p:nvSpPr>
          <p:cNvPr id="106" name="Google Shape;106;p7"/>
          <p:cNvSpPr txBox="1"/>
          <p:nvPr/>
        </p:nvSpPr>
        <p:spPr>
          <a:xfrm>
            <a:off x="1052880" y="2387802"/>
            <a:ext cx="2552700" cy="1306830"/>
          </a:xfrm>
          <a:prstGeom prst="rect">
            <a:avLst/>
          </a:prstGeom>
          <a:noFill/>
          <a:ln>
            <a:noFill/>
          </a:ln>
        </p:spPr>
        <p:txBody>
          <a:bodyPr anchorCtr="0" anchor="t" bIns="0" lIns="0" spcFirstLastPara="1" rIns="0" wrap="square" tIns="12050">
            <a:spAutoFit/>
          </a:bodyPr>
          <a:lstStyle/>
          <a:p>
            <a:pPr indent="-649605" lvl="0" marL="661670" marR="5080" rtl="0" algn="l">
              <a:lnSpc>
                <a:spcPct val="150100"/>
              </a:lnSpc>
              <a:spcBef>
                <a:spcPts val="0"/>
              </a:spcBef>
              <a:spcAft>
                <a:spcPts val="0"/>
              </a:spcAft>
              <a:buNone/>
            </a:pPr>
            <a:r>
              <a:rPr b="1" lang="en-US" sz="2800">
                <a:solidFill>
                  <a:schemeClr val="dk1"/>
                </a:solidFill>
                <a:latin typeface="Arial Rounded"/>
                <a:ea typeface="Arial Rounded"/>
                <a:cs typeface="Arial Rounded"/>
                <a:sym typeface="Arial Rounded"/>
              </a:rPr>
              <a:t>RDBMS Used:-  MySQL</a:t>
            </a:r>
            <a:endParaRPr b="1" sz="2800">
              <a:solidFill>
                <a:schemeClr val="dk1"/>
              </a:solidFill>
              <a:latin typeface="Arial Rounded"/>
              <a:ea typeface="Arial Rounded"/>
              <a:cs typeface="Arial Rounded"/>
              <a:sym typeface="Arial Rounded"/>
            </a:endParaRPr>
          </a:p>
        </p:txBody>
      </p:sp>
      <p:grpSp>
        <p:nvGrpSpPr>
          <p:cNvPr id="107" name="Google Shape;107;p7"/>
          <p:cNvGrpSpPr/>
          <p:nvPr/>
        </p:nvGrpSpPr>
        <p:grpSpPr>
          <a:xfrm>
            <a:off x="1069847" y="530351"/>
            <a:ext cx="10549128" cy="5992368"/>
            <a:chOff x="1069847" y="530351"/>
            <a:chExt cx="10549128" cy="5992368"/>
          </a:xfrm>
        </p:grpSpPr>
        <p:pic>
          <p:nvPicPr>
            <p:cNvPr id="108" name="Google Shape;108;p7"/>
            <p:cNvPicPr preferRelativeResize="0"/>
            <p:nvPr/>
          </p:nvPicPr>
          <p:blipFill rotWithShape="1">
            <a:blip r:embed="rId3">
              <a:alphaModFix/>
            </a:blip>
            <a:srcRect b="0" l="0" r="0" t="0"/>
            <a:stretch/>
          </p:blipFill>
          <p:spPr>
            <a:xfrm>
              <a:off x="1069847" y="3730751"/>
              <a:ext cx="2609088" cy="2791968"/>
            </a:xfrm>
            <a:prstGeom prst="rect">
              <a:avLst/>
            </a:prstGeom>
            <a:noFill/>
            <a:ln>
              <a:noFill/>
            </a:ln>
          </p:spPr>
        </p:pic>
        <p:pic>
          <p:nvPicPr>
            <p:cNvPr id="109" name="Google Shape;109;p7"/>
            <p:cNvPicPr preferRelativeResize="0"/>
            <p:nvPr/>
          </p:nvPicPr>
          <p:blipFill rotWithShape="1">
            <a:blip r:embed="rId4">
              <a:alphaModFix/>
            </a:blip>
            <a:srcRect b="0" l="0" r="0" t="0"/>
            <a:stretch/>
          </p:blipFill>
          <p:spPr>
            <a:xfrm>
              <a:off x="4642103" y="530351"/>
              <a:ext cx="6976872" cy="5657088"/>
            </a:xfrm>
            <a:prstGeom prst="rect">
              <a:avLst/>
            </a:prstGeom>
            <a:noFill/>
            <a:ln>
              <a:noFill/>
            </a:ln>
          </p:spPr>
        </p:pic>
      </p:grpSp>
      <p:sp>
        <p:nvSpPr>
          <p:cNvPr id="110" name="Google Shape;110;p7"/>
          <p:cNvSpPr txBox="1"/>
          <p:nvPr>
            <p:ph type="ctrTitle"/>
          </p:nvPr>
        </p:nvSpPr>
        <p:spPr>
          <a:xfrm>
            <a:off x="835151" y="118694"/>
            <a:ext cx="10521696" cy="848994"/>
          </a:xfrm>
          <a:prstGeom prst="rect">
            <a:avLst/>
          </a:prstGeom>
          <a:noFill/>
          <a:ln>
            <a:noFill/>
          </a:ln>
        </p:spPr>
        <p:txBody>
          <a:bodyPr anchorCtr="0" anchor="t" bIns="0" lIns="0" spcFirstLastPara="1" rIns="0" wrap="square" tIns="12700">
            <a:spAutoFit/>
          </a:bodyPr>
          <a:lstStyle/>
          <a:p>
            <a:pPr indent="0" lvl="0" marL="9224645" rtl="0" algn="l">
              <a:lnSpc>
                <a:spcPct val="100000"/>
              </a:lnSpc>
              <a:spcBef>
                <a:spcPts val="0"/>
              </a:spcBef>
              <a:spcAft>
                <a:spcPts val="0"/>
              </a:spcAft>
              <a:buNone/>
            </a:pPr>
            <a:r>
              <a:rPr lang="en-US"/>
              <a:t>C</a:t>
            </a:r>
            <a:r>
              <a:rPr baseline="30000" lang="en-US" sz="8100">
                <a:solidFill>
                  <a:srgbClr val="000000"/>
                </a:solidFill>
                <a:latin typeface="Arial"/>
                <a:ea typeface="Arial"/>
                <a:cs typeface="Arial"/>
                <a:sym typeface="Arial"/>
              </a:rPr>
              <a:t>A</a:t>
            </a:r>
            <a:r>
              <a:rPr lang="en-US" sz="1700"/>
              <a:t>lass</a:t>
            </a:r>
            <a:r>
              <a:rPr baseline="30000" lang="en-US" sz="6000">
                <a:solidFill>
                  <a:srgbClr val="000000"/>
                </a:solidFill>
                <a:latin typeface="Arial"/>
                <a:ea typeface="Arial"/>
                <a:cs typeface="Arial"/>
                <a:sym typeface="Arial"/>
              </a:rPr>
              <a:t>x</a:t>
            </a:r>
            <a:r>
              <a:rPr lang="en-US" sz="1700"/>
              <a:t>ic</a:t>
            </a:r>
            <a:r>
              <a:rPr baseline="30000" lang="en-US" sz="6000">
                <a:solidFill>
                  <a:srgbClr val="000000"/>
                </a:solidFill>
                <a:latin typeface="Arial"/>
                <a:ea typeface="Arial"/>
                <a:cs typeface="Arial"/>
                <a:sym typeface="Arial"/>
              </a:rPr>
              <a:t>o</a:t>
            </a:r>
            <a:r>
              <a:rPr lang="en-US" sz="1700"/>
              <a:t>ca</a:t>
            </a:r>
            <a:r>
              <a:rPr baseline="30000" lang="en-US" sz="6000">
                <a:solidFill>
                  <a:srgbClr val="000000"/>
                </a:solidFill>
                <a:latin typeface="Arial"/>
                <a:ea typeface="Arial"/>
                <a:cs typeface="Arial"/>
                <a:sym typeface="Arial"/>
              </a:rPr>
              <a:t>n</a:t>
            </a:r>
            <a:r>
              <a:rPr lang="en-US" sz="1700"/>
              <a:t>rs</a:t>
            </a:r>
            <a:endParaRPr sz="1700">
              <a:latin typeface="Arial"/>
              <a:ea typeface="Arial"/>
              <a:cs typeface="Arial"/>
              <a:sym typeface="Arial"/>
            </a:endParaRPr>
          </a:p>
        </p:txBody>
      </p:sp>
      <p:pic>
        <p:nvPicPr>
          <p:cNvPr id="111" name="Google Shape;111;p7"/>
          <p:cNvPicPr preferRelativeResize="0"/>
          <p:nvPr/>
        </p:nvPicPr>
        <p:blipFill rotWithShape="1">
          <a:blip r:embed="rId5">
            <a:alphaModFix/>
          </a:blip>
          <a:srcRect b="0" l="0" r="0" t="0"/>
          <a:stretch/>
        </p:blipFill>
        <p:spPr>
          <a:xfrm>
            <a:off x="10274807" y="0"/>
            <a:ext cx="1170431" cy="43586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8"/>
          <p:cNvPicPr preferRelativeResize="0"/>
          <p:nvPr/>
        </p:nvPicPr>
        <p:blipFill rotWithShape="1">
          <a:blip r:embed="rId3">
            <a:alphaModFix/>
          </a:blip>
          <a:srcRect b="0" l="0" r="0" t="0"/>
          <a:stretch/>
        </p:blipFill>
        <p:spPr>
          <a:xfrm>
            <a:off x="582168" y="499872"/>
            <a:ext cx="11027664" cy="5687568"/>
          </a:xfrm>
          <a:prstGeom prst="rect">
            <a:avLst/>
          </a:prstGeom>
          <a:noFill/>
          <a:ln>
            <a:noFill/>
          </a:ln>
        </p:spPr>
      </p:pic>
      <p:sp>
        <p:nvSpPr>
          <p:cNvPr id="117" name="Google Shape;117;p8"/>
          <p:cNvSpPr txBox="1"/>
          <p:nvPr>
            <p:ph type="title"/>
          </p:nvPr>
        </p:nvSpPr>
        <p:spPr>
          <a:xfrm>
            <a:off x="704799" y="609980"/>
            <a:ext cx="6718300" cy="45339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b="1" lang="en-US" sz="2800">
                <a:solidFill>
                  <a:srgbClr val="EC7C30"/>
                </a:solidFill>
                <a:latin typeface="Arial Rounded"/>
                <a:ea typeface="Arial Rounded"/>
                <a:cs typeface="Arial Rounded"/>
                <a:sym typeface="Arial Rounded"/>
              </a:rPr>
              <a:t>Which are the top 10 products by order</a:t>
            </a:r>
            <a:endParaRPr b="1" sz="2800">
              <a:latin typeface="Arial Rounded"/>
              <a:ea typeface="Arial Rounded"/>
              <a:cs typeface="Arial Rounded"/>
              <a:sym typeface="Arial Rounded"/>
            </a:endParaRPr>
          </a:p>
        </p:txBody>
      </p:sp>
      <p:grpSp>
        <p:nvGrpSpPr>
          <p:cNvPr id="118" name="Google Shape;118;p8"/>
          <p:cNvGrpSpPr/>
          <p:nvPr/>
        </p:nvGrpSpPr>
        <p:grpSpPr>
          <a:xfrm>
            <a:off x="905255" y="1243583"/>
            <a:ext cx="10500361" cy="3346704"/>
            <a:chOff x="905255" y="1243583"/>
            <a:chExt cx="10500361" cy="3346704"/>
          </a:xfrm>
        </p:grpSpPr>
        <p:pic>
          <p:nvPicPr>
            <p:cNvPr id="119" name="Google Shape;119;p8"/>
            <p:cNvPicPr preferRelativeResize="0"/>
            <p:nvPr/>
          </p:nvPicPr>
          <p:blipFill rotWithShape="1">
            <a:blip r:embed="rId4">
              <a:alphaModFix/>
            </a:blip>
            <a:srcRect b="0" l="0" r="0" t="0"/>
            <a:stretch/>
          </p:blipFill>
          <p:spPr>
            <a:xfrm>
              <a:off x="7589520" y="1481327"/>
              <a:ext cx="3816096" cy="2901696"/>
            </a:xfrm>
            <a:prstGeom prst="rect">
              <a:avLst/>
            </a:prstGeom>
            <a:noFill/>
            <a:ln>
              <a:noFill/>
            </a:ln>
          </p:spPr>
        </p:pic>
        <p:pic>
          <p:nvPicPr>
            <p:cNvPr id="120" name="Google Shape;120;p8"/>
            <p:cNvPicPr preferRelativeResize="0"/>
            <p:nvPr/>
          </p:nvPicPr>
          <p:blipFill rotWithShape="1">
            <a:blip r:embed="rId5">
              <a:alphaModFix/>
            </a:blip>
            <a:srcRect b="0" l="0" r="0" t="0"/>
            <a:stretch/>
          </p:blipFill>
          <p:spPr>
            <a:xfrm>
              <a:off x="905255" y="1243583"/>
              <a:ext cx="6477000" cy="3346704"/>
            </a:xfrm>
            <a:prstGeom prst="rect">
              <a:avLst/>
            </a:prstGeom>
            <a:noFill/>
            <a:ln>
              <a:noFill/>
            </a:ln>
          </p:spPr>
        </p:pic>
      </p:grpSp>
      <p:sp>
        <p:nvSpPr>
          <p:cNvPr id="121" name="Google Shape;121;p8"/>
          <p:cNvSpPr txBox="1"/>
          <p:nvPr/>
        </p:nvSpPr>
        <p:spPr>
          <a:xfrm>
            <a:off x="882192" y="4898263"/>
            <a:ext cx="10050780" cy="939165"/>
          </a:xfrm>
          <a:prstGeom prst="rect">
            <a:avLst/>
          </a:prstGeom>
          <a:noFill/>
          <a:ln>
            <a:noFill/>
          </a:ln>
        </p:spPr>
        <p:txBody>
          <a:bodyPr anchorCtr="0" anchor="t" bIns="0" lIns="0" spcFirstLastPara="1" rIns="0" wrap="square" tIns="11425">
            <a:spAutoFit/>
          </a:bodyPr>
          <a:lstStyle/>
          <a:p>
            <a:pPr indent="0" lvl="0" marL="12700" marR="5080" rtl="0" algn="l">
              <a:lnSpc>
                <a:spcPct val="100000"/>
              </a:lnSpc>
              <a:spcBef>
                <a:spcPts val="0"/>
              </a:spcBef>
              <a:spcAft>
                <a:spcPts val="0"/>
              </a:spcAft>
              <a:buNone/>
            </a:pPr>
            <a:r>
              <a:rPr b="1" lang="en-US" sz="2000">
                <a:solidFill>
                  <a:schemeClr val="dk1"/>
                </a:solidFill>
                <a:latin typeface="Arial Rounded"/>
                <a:ea typeface="Arial Rounded"/>
                <a:cs typeface="Arial Rounded"/>
                <a:sym typeface="Arial Rounded"/>
              </a:rPr>
              <a:t>Suggestion: Promote the top 10 best-selling scale model cars and Ensure they are  always in stock. Analyze why these products are popular for future product  development.</a:t>
            </a:r>
            <a:endParaRPr b="1" sz="2000">
              <a:solidFill>
                <a:schemeClr val="dk1"/>
              </a:solidFill>
              <a:latin typeface="Arial Rounded"/>
              <a:ea typeface="Arial Rounded"/>
              <a:cs typeface="Arial Rounded"/>
              <a:sym typeface="Arial Rounde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9"/>
          <p:cNvPicPr preferRelativeResize="0"/>
          <p:nvPr/>
        </p:nvPicPr>
        <p:blipFill rotWithShape="1">
          <a:blip r:embed="rId3">
            <a:alphaModFix/>
          </a:blip>
          <a:srcRect b="0" l="0" r="0" t="0"/>
          <a:stretch/>
        </p:blipFill>
        <p:spPr>
          <a:xfrm>
            <a:off x="582168" y="499872"/>
            <a:ext cx="11027664" cy="5687568"/>
          </a:xfrm>
          <a:prstGeom prst="rect">
            <a:avLst/>
          </a:prstGeom>
          <a:noFill/>
          <a:ln>
            <a:noFill/>
          </a:ln>
        </p:spPr>
      </p:pic>
      <p:sp>
        <p:nvSpPr>
          <p:cNvPr id="127" name="Google Shape;127;p9"/>
          <p:cNvSpPr txBox="1"/>
          <p:nvPr>
            <p:ph type="title"/>
          </p:nvPr>
        </p:nvSpPr>
        <p:spPr>
          <a:xfrm>
            <a:off x="704799" y="609980"/>
            <a:ext cx="8495665" cy="45339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b="1" lang="en-US" sz="2800">
                <a:solidFill>
                  <a:srgbClr val="EC7C30"/>
                </a:solidFill>
                <a:latin typeface="Arial Rounded"/>
                <a:ea typeface="Arial Rounded"/>
                <a:cs typeface="Arial Rounded"/>
                <a:sym typeface="Arial Rounded"/>
              </a:rPr>
              <a:t>Which countries has highest number of customer</a:t>
            </a:r>
            <a:endParaRPr b="1" sz="2800">
              <a:latin typeface="Arial Rounded"/>
              <a:ea typeface="Arial Rounded"/>
              <a:cs typeface="Arial Rounded"/>
              <a:sym typeface="Arial Rounded"/>
            </a:endParaRPr>
          </a:p>
        </p:txBody>
      </p:sp>
      <p:grpSp>
        <p:nvGrpSpPr>
          <p:cNvPr id="128" name="Google Shape;128;p9"/>
          <p:cNvGrpSpPr/>
          <p:nvPr/>
        </p:nvGrpSpPr>
        <p:grpSpPr>
          <a:xfrm>
            <a:off x="822960" y="1264919"/>
            <a:ext cx="10418064" cy="3340608"/>
            <a:chOff x="822960" y="1264919"/>
            <a:chExt cx="10418064" cy="3340608"/>
          </a:xfrm>
        </p:grpSpPr>
        <p:pic>
          <p:nvPicPr>
            <p:cNvPr id="129" name="Google Shape;129;p9"/>
            <p:cNvPicPr preferRelativeResize="0"/>
            <p:nvPr/>
          </p:nvPicPr>
          <p:blipFill rotWithShape="1">
            <a:blip r:embed="rId4">
              <a:alphaModFix/>
            </a:blip>
            <a:srcRect b="0" l="0" r="0" t="0"/>
            <a:stretch/>
          </p:blipFill>
          <p:spPr>
            <a:xfrm>
              <a:off x="7812024" y="1664207"/>
              <a:ext cx="3429000" cy="2542032"/>
            </a:xfrm>
            <a:prstGeom prst="rect">
              <a:avLst/>
            </a:prstGeom>
            <a:noFill/>
            <a:ln>
              <a:noFill/>
            </a:ln>
          </p:spPr>
        </p:pic>
        <p:pic>
          <p:nvPicPr>
            <p:cNvPr id="130" name="Google Shape;130;p9"/>
            <p:cNvPicPr preferRelativeResize="0"/>
            <p:nvPr/>
          </p:nvPicPr>
          <p:blipFill rotWithShape="1">
            <a:blip r:embed="rId5">
              <a:alphaModFix/>
            </a:blip>
            <a:srcRect b="0" l="0" r="0" t="0"/>
            <a:stretch/>
          </p:blipFill>
          <p:spPr>
            <a:xfrm>
              <a:off x="822960" y="1264919"/>
              <a:ext cx="6245352" cy="3340608"/>
            </a:xfrm>
            <a:prstGeom prst="rect">
              <a:avLst/>
            </a:prstGeom>
            <a:noFill/>
            <a:ln>
              <a:noFill/>
            </a:ln>
          </p:spPr>
        </p:pic>
      </p:grpSp>
      <p:sp>
        <p:nvSpPr>
          <p:cNvPr id="131" name="Google Shape;131;p9"/>
          <p:cNvSpPr txBox="1"/>
          <p:nvPr/>
        </p:nvSpPr>
        <p:spPr>
          <a:xfrm>
            <a:off x="863904" y="4745227"/>
            <a:ext cx="10020935" cy="939165"/>
          </a:xfrm>
          <a:prstGeom prst="rect">
            <a:avLst/>
          </a:prstGeom>
          <a:noFill/>
          <a:ln>
            <a:noFill/>
          </a:ln>
        </p:spPr>
        <p:txBody>
          <a:bodyPr anchorCtr="0" anchor="t" bIns="0" lIns="0" spcFirstLastPara="1" rIns="0" wrap="square" tIns="11425">
            <a:spAutoFit/>
          </a:bodyPr>
          <a:lstStyle/>
          <a:p>
            <a:pPr indent="0" lvl="0" marL="12700" marR="5080" rtl="0" algn="l">
              <a:lnSpc>
                <a:spcPct val="100000"/>
              </a:lnSpc>
              <a:spcBef>
                <a:spcPts val="0"/>
              </a:spcBef>
              <a:spcAft>
                <a:spcPts val="0"/>
              </a:spcAft>
              <a:buNone/>
            </a:pPr>
            <a:r>
              <a:rPr b="1" lang="en-US" sz="2000">
                <a:solidFill>
                  <a:schemeClr val="dk1"/>
                </a:solidFill>
                <a:latin typeface="Arial Rounded"/>
                <a:ea typeface="Arial Rounded"/>
                <a:cs typeface="Arial Rounded"/>
                <a:sym typeface="Arial Rounded"/>
              </a:rPr>
              <a:t>Suggestion: Focus on strengthening the market in the USA, consider expansion in  Germany and France, and implement targeted marketing in smaller markets like  Spain and Australia</a:t>
            </a:r>
            <a:endParaRPr b="1" sz="2000">
              <a:solidFill>
                <a:schemeClr val="dk1"/>
              </a:solidFill>
              <a:latin typeface="Arial Rounded"/>
              <a:ea typeface="Arial Rounded"/>
              <a:cs typeface="Arial Rounded"/>
              <a:sym typeface="Arial Rounde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10"/>
          <p:cNvPicPr preferRelativeResize="0"/>
          <p:nvPr/>
        </p:nvPicPr>
        <p:blipFill rotWithShape="1">
          <a:blip r:embed="rId3">
            <a:alphaModFix/>
          </a:blip>
          <a:srcRect b="0" l="0" r="0" t="0"/>
          <a:stretch/>
        </p:blipFill>
        <p:spPr>
          <a:xfrm>
            <a:off x="582168" y="499872"/>
            <a:ext cx="11027664" cy="5687568"/>
          </a:xfrm>
          <a:prstGeom prst="rect">
            <a:avLst/>
          </a:prstGeom>
          <a:noFill/>
          <a:ln>
            <a:noFill/>
          </a:ln>
        </p:spPr>
      </p:pic>
      <p:sp>
        <p:nvSpPr>
          <p:cNvPr id="137" name="Google Shape;137;p10"/>
          <p:cNvSpPr txBox="1"/>
          <p:nvPr>
            <p:ph type="title"/>
          </p:nvPr>
        </p:nvSpPr>
        <p:spPr>
          <a:xfrm>
            <a:off x="704799" y="609980"/>
            <a:ext cx="6045835" cy="45339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b="1" lang="en-US" sz="2800">
                <a:solidFill>
                  <a:srgbClr val="EC7C30"/>
                </a:solidFill>
                <a:latin typeface="Arial Rounded"/>
                <a:ea typeface="Arial Rounded"/>
                <a:cs typeface="Arial Rounded"/>
                <a:sym typeface="Arial Rounded"/>
              </a:rPr>
              <a:t>Find the top 2 product line by order</a:t>
            </a:r>
            <a:endParaRPr b="1" sz="2800">
              <a:latin typeface="Arial Rounded"/>
              <a:ea typeface="Arial Rounded"/>
              <a:cs typeface="Arial Rounded"/>
              <a:sym typeface="Arial Rounded"/>
            </a:endParaRPr>
          </a:p>
        </p:txBody>
      </p:sp>
      <p:grpSp>
        <p:nvGrpSpPr>
          <p:cNvPr id="138" name="Google Shape;138;p10"/>
          <p:cNvGrpSpPr/>
          <p:nvPr/>
        </p:nvGrpSpPr>
        <p:grpSpPr>
          <a:xfrm>
            <a:off x="822960" y="1261872"/>
            <a:ext cx="10546078" cy="3502152"/>
            <a:chOff x="822960" y="1261872"/>
            <a:chExt cx="10546078" cy="3502152"/>
          </a:xfrm>
        </p:grpSpPr>
        <p:pic>
          <p:nvPicPr>
            <p:cNvPr id="139" name="Google Shape;139;p10"/>
            <p:cNvPicPr preferRelativeResize="0"/>
            <p:nvPr/>
          </p:nvPicPr>
          <p:blipFill rotWithShape="1">
            <a:blip r:embed="rId4">
              <a:alphaModFix/>
            </a:blip>
            <a:srcRect b="0" l="0" r="0" t="0"/>
            <a:stretch/>
          </p:blipFill>
          <p:spPr>
            <a:xfrm>
              <a:off x="7491983" y="2225039"/>
              <a:ext cx="3877055" cy="1432560"/>
            </a:xfrm>
            <a:prstGeom prst="rect">
              <a:avLst/>
            </a:prstGeom>
            <a:noFill/>
            <a:ln>
              <a:noFill/>
            </a:ln>
          </p:spPr>
        </p:pic>
        <p:pic>
          <p:nvPicPr>
            <p:cNvPr id="140" name="Google Shape;140;p10"/>
            <p:cNvPicPr preferRelativeResize="0"/>
            <p:nvPr/>
          </p:nvPicPr>
          <p:blipFill rotWithShape="1">
            <a:blip r:embed="rId5">
              <a:alphaModFix/>
            </a:blip>
            <a:srcRect b="0" l="0" r="0" t="0"/>
            <a:stretch/>
          </p:blipFill>
          <p:spPr>
            <a:xfrm>
              <a:off x="822960" y="1261872"/>
              <a:ext cx="6120384" cy="3502152"/>
            </a:xfrm>
            <a:prstGeom prst="rect">
              <a:avLst/>
            </a:prstGeom>
            <a:noFill/>
            <a:ln>
              <a:noFill/>
            </a:ln>
          </p:spPr>
        </p:pic>
      </p:grpSp>
      <p:sp>
        <p:nvSpPr>
          <p:cNvPr id="141" name="Google Shape;141;p10"/>
          <p:cNvSpPr txBox="1"/>
          <p:nvPr/>
        </p:nvSpPr>
        <p:spPr>
          <a:xfrm>
            <a:off x="774598" y="5000625"/>
            <a:ext cx="10754360" cy="939165"/>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lang="en-US" sz="2000">
                <a:solidFill>
                  <a:schemeClr val="dk1"/>
                </a:solidFill>
                <a:latin typeface="Arial Rounded"/>
                <a:ea typeface="Arial Rounded"/>
                <a:cs typeface="Arial Rounded"/>
                <a:sym typeface="Arial Rounded"/>
              </a:rPr>
              <a:t>Suggestion:	Focus on Classic Cars and Vintage Cars as they are the top-performing</a:t>
            </a:r>
            <a:endParaRPr b="1" sz="2000">
              <a:solidFill>
                <a:schemeClr val="dk1"/>
              </a:solidFill>
              <a:latin typeface="Arial Rounded"/>
              <a:ea typeface="Arial Rounded"/>
              <a:cs typeface="Arial Rounded"/>
              <a:sym typeface="Arial Rounded"/>
            </a:endParaRPr>
          </a:p>
          <a:p>
            <a:pPr indent="0" lvl="0" marL="12700" marR="0" rtl="0" algn="l">
              <a:lnSpc>
                <a:spcPct val="100000"/>
              </a:lnSpc>
              <a:spcBef>
                <a:spcPts val="0"/>
              </a:spcBef>
              <a:spcAft>
                <a:spcPts val="0"/>
              </a:spcAft>
              <a:buNone/>
            </a:pPr>
            <a:r>
              <a:rPr b="1" lang="en-US" sz="2000">
                <a:solidFill>
                  <a:schemeClr val="dk1"/>
                </a:solidFill>
                <a:latin typeface="Arial Rounded"/>
                <a:ea typeface="Arial Rounded"/>
                <a:cs typeface="Arial Rounded"/>
                <a:sym typeface="Arial Rounded"/>
              </a:rPr>
              <a:t>product lines. Analyze and improve the performance of lower-selling product lines.</a:t>
            </a:r>
            <a:endParaRPr b="1" sz="2000">
              <a:solidFill>
                <a:schemeClr val="dk1"/>
              </a:solidFill>
              <a:latin typeface="Arial Rounded"/>
              <a:ea typeface="Arial Rounded"/>
              <a:cs typeface="Arial Rounded"/>
              <a:sym typeface="Arial Rounded"/>
            </a:endParaRPr>
          </a:p>
          <a:p>
            <a:pPr indent="0" lvl="0" marL="12700" marR="0" rtl="0" algn="l">
              <a:lnSpc>
                <a:spcPct val="100000"/>
              </a:lnSpc>
              <a:spcBef>
                <a:spcPts val="5"/>
              </a:spcBef>
              <a:spcAft>
                <a:spcPts val="0"/>
              </a:spcAft>
              <a:buNone/>
            </a:pPr>
            <a:r>
              <a:rPr b="1" lang="en-US" sz="2000">
                <a:solidFill>
                  <a:schemeClr val="dk1"/>
                </a:solidFill>
                <a:latin typeface="Arial Rounded"/>
                <a:ea typeface="Arial Rounded"/>
                <a:cs typeface="Arial Rounded"/>
                <a:sym typeface="Arial Rounded"/>
              </a:rPr>
              <a:t>Explore customer segmentation for more targeted marketing and product development.</a:t>
            </a:r>
            <a:endParaRPr b="1" sz="2000">
              <a:solidFill>
                <a:schemeClr val="dk1"/>
              </a:solidFill>
              <a:latin typeface="Arial Rounded"/>
              <a:ea typeface="Arial Rounded"/>
              <a:cs typeface="Arial Rounded"/>
              <a:sym typeface="Arial Rounde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11"/>
          <p:cNvPicPr preferRelativeResize="0"/>
          <p:nvPr/>
        </p:nvPicPr>
        <p:blipFill rotWithShape="1">
          <a:blip r:embed="rId3">
            <a:alphaModFix/>
          </a:blip>
          <a:srcRect b="0" l="0" r="0" t="0"/>
          <a:stretch/>
        </p:blipFill>
        <p:spPr>
          <a:xfrm>
            <a:off x="582168" y="499872"/>
            <a:ext cx="11027664" cy="5687568"/>
          </a:xfrm>
          <a:prstGeom prst="rect">
            <a:avLst/>
          </a:prstGeom>
          <a:noFill/>
          <a:ln>
            <a:noFill/>
          </a:ln>
        </p:spPr>
      </p:pic>
      <p:sp>
        <p:nvSpPr>
          <p:cNvPr id="147" name="Google Shape;147;p11"/>
          <p:cNvSpPr txBox="1"/>
          <p:nvPr>
            <p:ph type="title"/>
          </p:nvPr>
        </p:nvSpPr>
        <p:spPr>
          <a:xfrm>
            <a:off x="704799" y="478917"/>
            <a:ext cx="9843135" cy="880744"/>
          </a:xfrm>
          <a:prstGeom prst="rect">
            <a:avLst/>
          </a:prstGeom>
          <a:noFill/>
          <a:ln>
            <a:noFill/>
          </a:ln>
        </p:spPr>
        <p:txBody>
          <a:bodyPr anchorCtr="0" anchor="t" bIns="0" lIns="0" spcFirstLastPara="1" rIns="0" wrap="square" tIns="13325">
            <a:spAutoFit/>
          </a:bodyPr>
          <a:lstStyle/>
          <a:p>
            <a:pPr indent="0" lvl="0" marL="12700" marR="5080" rtl="0" algn="l">
              <a:lnSpc>
                <a:spcPct val="100000"/>
              </a:lnSpc>
              <a:spcBef>
                <a:spcPts val="0"/>
              </a:spcBef>
              <a:spcAft>
                <a:spcPts val="0"/>
              </a:spcAft>
              <a:buNone/>
            </a:pPr>
            <a:r>
              <a:rPr b="1" lang="en-US" sz="2800">
                <a:solidFill>
                  <a:srgbClr val="EC7C30"/>
                </a:solidFill>
                <a:latin typeface="Arial Rounded"/>
                <a:ea typeface="Arial Rounded"/>
                <a:cs typeface="Arial Rounded"/>
                <a:sym typeface="Arial Rounded"/>
              </a:rPr>
              <a:t>Which are the top </a:t>
            </a:r>
            <a:r>
              <a:rPr b="1" lang="en-US" sz="2800">
                <a:solidFill>
                  <a:srgbClr val="EC7C30"/>
                </a:solidFill>
                <a:latin typeface="Century Gothic"/>
                <a:ea typeface="Century Gothic"/>
                <a:cs typeface="Century Gothic"/>
                <a:sym typeface="Century Gothic"/>
              </a:rPr>
              <a:t>5 customers with the highest number of  orders </a:t>
            </a:r>
            <a:r>
              <a:rPr b="1" lang="en-US" sz="2800">
                <a:solidFill>
                  <a:srgbClr val="EC7C30"/>
                </a:solidFill>
                <a:latin typeface="Arial Rounded"/>
                <a:ea typeface="Arial Rounded"/>
                <a:cs typeface="Arial Rounded"/>
                <a:sym typeface="Arial Rounded"/>
              </a:rPr>
              <a:t>products by order</a:t>
            </a:r>
            <a:endParaRPr b="1" sz="2800">
              <a:latin typeface="Arial Rounded"/>
              <a:ea typeface="Arial Rounded"/>
              <a:cs typeface="Arial Rounded"/>
              <a:sym typeface="Arial Rounded"/>
            </a:endParaRPr>
          </a:p>
        </p:txBody>
      </p:sp>
      <p:grpSp>
        <p:nvGrpSpPr>
          <p:cNvPr id="148" name="Google Shape;148;p11"/>
          <p:cNvGrpSpPr/>
          <p:nvPr/>
        </p:nvGrpSpPr>
        <p:grpSpPr>
          <a:xfrm>
            <a:off x="765048" y="1520952"/>
            <a:ext cx="10363198" cy="2904744"/>
            <a:chOff x="765048" y="1520952"/>
            <a:chExt cx="10363198" cy="2904744"/>
          </a:xfrm>
        </p:grpSpPr>
        <p:pic>
          <p:nvPicPr>
            <p:cNvPr id="149" name="Google Shape;149;p11"/>
            <p:cNvPicPr preferRelativeResize="0"/>
            <p:nvPr/>
          </p:nvPicPr>
          <p:blipFill rotWithShape="1">
            <a:blip r:embed="rId4">
              <a:alphaModFix/>
            </a:blip>
            <a:srcRect b="0" l="0" r="0" t="0"/>
            <a:stretch/>
          </p:blipFill>
          <p:spPr>
            <a:xfrm>
              <a:off x="7632191" y="1682496"/>
              <a:ext cx="3496055" cy="2368296"/>
            </a:xfrm>
            <a:prstGeom prst="rect">
              <a:avLst/>
            </a:prstGeom>
            <a:noFill/>
            <a:ln>
              <a:noFill/>
            </a:ln>
          </p:spPr>
        </p:pic>
        <p:pic>
          <p:nvPicPr>
            <p:cNvPr id="150" name="Google Shape;150;p11"/>
            <p:cNvPicPr preferRelativeResize="0"/>
            <p:nvPr/>
          </p:nvPicPr>
          <p:blipFill rotWithShape="1">
            <a:blip r:embed="rId5">
              <a:alphaModFix/>
            </a:blip>
            <a:srcRect b="0" l="0" r="0" t="0"/>
            <a:stretch/>
          </p:blipFill>
          <p:spPr>
            <a:xfrm>
              <a:off x="765048" y="1520952"/>
              <a:ext cx="6400800" cy="2904744"/>
            </a:xfrm>
            <a:prstGeom prst="rect">
              <a:avLst/>
            </a:prstGeom>
            <a:noFill/>
            <a:ln>
              <a:noFill/>
            </a:ln>
          </p:spPr>
        </p:pic>
      </p:grpSp>
      <p:sp>
        <p:nvSpPr>
          <p:cNvPr id="151" name="Google Shape;151;p11"/>
          <p:cNvSpPr txBox="1"/>
          <p:nvPr/>
        </p:nvSpPr>
        <p:spPr>
          <a:xfrm>
            <a:off x="806602" y="4675758"/>
            <a:ext cx="10393045" cy="1243965"/>
          </a:xfrm>
          <a:prstGeom prst="rect">
            <a:avLst/>
          </a:prstGeom>
          <a:noFill/>
          <a:ln>
            <a:noFill/>
          </a:ln>
        </p:spPr>
        <p:txBody>
          <a:bodyPr anchorCtr="0" anchor="t" bIns="0" lIns="0" spcFirstLastPara="1" rIns="0" wrap="square" tIns="11425">
            <a:spAutoFit/>
          </a:bodyPr>
          <a:lstStyle/>
          <a:p>
            <a:pPr indent="0" lvl="0" marL="12700" marR="5080" rtl="0" algn="l">
              <a:lnSpc>
                <a:spcPct val="100000"/>
              </a:lnSpc>
              <a:spcBef>
                <a:spcPts val="0"/>
              </a:spcBef>
              <a:spcAft>
                <a:spcPts val="0"/>
              </a:spcAft>
              <a:buNone/>
            </a:pPr>
            <a:r>
              <a:rPr b="1" lang="en-US" sz="2000">
                <a:solidFill>
                  <a:schemeClr val="dk1"/>
                </a:solidFill>
                <a:latin typeface="Arial Rounded"/>
                <a:ea typeface="Arial Rounded"/>
                <a:cs typeface="Arial Rounded"/>
                <a:sym typeface="Arial Rounded"/>
              </a:rPr>
              <a:t>Suggestion: Concentrate efforts on maintaining a strong relationship with "Euro+  Shopping Channel, "Mini Gifts Distributors Ltd.“ your top customer. Understand the  preferences of top customers to tailor marketing strategies, and consider expanding  product lines to attract a wider audience for sustained growth.</a:t>
            </a:r>
            <a:endParaRPr b="1" sz="2000">
              <a:solidFill>
                <a:schemeClr val="dk1"/>
              </a:solidFill>
              <a:latin typeface="Arial Rounded"/>
              <a:ea typeface="Arial Rounded"/>
              <a:cs typeface="Arial Rounded"/>
              <a:sym typeface="Arial Rounde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12"/>
          <p:cNvPicPr preferRelativeResize="0"/>
          <p:nvPr/>
        </p:nvPicPr>
        <p:blipFill rotWithShape="1">
          <a:blip r:embed="rId3">
            <a:alphaModFix/>
          </a:blip>
          <a:srcRect b="0" l="0" r="0" t="0"/>
          <a:stretch/>
        </p:blipFill>
        <p:spPr>
          <a:xfrm>
            <a:off x="582168" y="499872"/>
            <a:ext cx="11027664" cy="5687568"/>
          </a:xfrm>
          <a:prstGeom prst="rect">
            <a:avLst/>
          </a:prstGeom>
          <a:noFill/>
          <a:ln>
            <a:noFill/>
          </a:ln>
        </p:spPr>
      </p:pic>
      <p:sp>
        <p:nvSpPr>
          <p:cNvPr id="157" name="Google Shape;157;p12"/>
          <p:cNvSpPr txBox="1"/>
          <p:nvPr>
            <p:ph type="title"/>
          </p:nvPr>
        </p:nvSpPr>
        <p:spPr>
          <a:xfrm>
            <a:off x="768807" y="693877"/>
            <a:ext cx="7437755" cy="45402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b="1" lang="en-US" sz="2800">
                <a:solidFill>
                  <a:srgbClr val="EC7C30"/>
                </a:solidFill>
                <a:latin typeface="Arial Rounded"/>
                <a:ea typeface="Arial Rounded"/>
                <a:cs typeface="Arial Rounded"/>
                <a:sym typeface="Arial Rounded"/>
              </a:rPr>
              <a:t>find each year how many orders are placed</a:t>
            </a:r>
            <a:endParaRPr b="1" sz="2800">
              <a:latin typeface="Arial Rounded"/>
              <a:ea typeface="Arial Rounded"/>
              <a:cs typeface="Arial Rounded"/>
              <a:sym typeface="Arial Rounded"/>
            </a:endParaRPr>
          </a:p>
        </p:txBody>
      </p:sp>
      <p:grpSp>
        <p:nvGrpSpPr>
          <p:cNvPr id="158" name="Google Shape;158;p12"/>
          <p:cNvGrpSpPr/>
          <p:nvPr/>
        </p:nvGrpSpPr>
        <p:grpSpPr>
          <a:xfrm>
            <a:off x="874775" y="1395983"/>
            <a:ext cx="10482072" cy="2923032"/>
            <a:chOff x="874775" y="1395983"/>
            <a:chExt cx="10482072" cy="2923032"/>
          </a:xfrm>
        </p:grpSpPr>
        <p:pic>
          <p:nvPicPr>
            <p:cNvPr id="159" name="Google Shape;159;p12"/>
            <p:cNvPicPr preferRelativeResize="0"/>
            <p:nvPr/>
          </p:nvPicPr>
          <p:blipFill rotWithShape="1">
            <a:blip r:embed="rId4">
              <a:alphaModFix/>
            </a:blip>
            <a:srcRect b="0" l="0" r="0" t="0"/>
            <a:stretch/>
          </p:blipFill>
          <p:spPr>
            <a:xfrm>
              <a:off x="874775" y="1395983"/>
              <a:ext cx="7043928" cy="2923032"/>
            </a:xfrm>
            <a:prstGeom prst="rect">
              <a:avLst/>
            </a:prstGeom>
            <a:noFill/>
            <a:ln>
              <a:noFill/>
            </a:ln>
          </p:spPr>
        </p:pic>
        <p:pic>
          <p:nvPicPr>
            <p:cNvPr id="160" name="Google Shape;160;p12"/>
            <p:cNvPicPr preferRelativeResize="0"/>
            <p:nvPr/>
          </p:nvPicPr>
          <p:blipFill rotWithShape="1">
            <a:blip r:embed="rId5">
              <a:alphaModFix/>
            </a:blip>
            <a:srcRect b="0" l="0" r="0" t="0"/>
            <a:stretch/>
          </p:blipFill>
          <p:spPr>
            <a:xfrm>
              <a:off x="8503919" y="1871471"/>
              <a:ext cx="2852928" cy="1819655"/>
            </a:xfrm>
            <a:prstGeom prst="rect">
              <a:avLst/>
            </a:prstGeom>
            <a:noFill/>
            <a:ln>
              <a:noFill/>
            </a:ln>
          </p:spPr>
        </p:pic>
      </p:grpSp>
      <p:sp>
        <p:nvSpPr>
          <p:cNvPr id="161" name="Google Shape;161;p12"/>
          <p:cNvSpPr txBox="1"/>
          <p:nvPr/>
        </p:nvSpPr>
        <p:spPr>
          <a:xfrm>
            <a:off x="915416" y="4554169"/>
            <a:ext cx="10365105" cy="1244600"/>
          </a:xfrm>
          <a:prstGeom prst="rect">
            <a:avLst/>
          </a:prstGeom>
          <a:noFill/>
          <a:ln>
            <a:noFill/>
          </a:ln>
        </p:spPr>
        <p:txBody>
          <a:bodyPr anchorCtr="0" anchor="t" bIns="0" lIns="0" spcFirstLastPara="1" rIns="0" wrap="square" tIns="12050">
            <a:spAutoFit/>
          </a:bodyPr>
          <a:lstStyle/>
          <a:p>
            <a:pPr indent="0" lvl="0" marL="12700" marR="5080" rtl="0" algn="just">
              <a:lnSpc>
                <a:spcPct val="100000"/>
              </a:lnSpc>
              <a:spcBef>
                <a:spcPts val="0"/>
              </a:spcBef>
              <a:spcAft>
                <a:spcPts val="0"/>
              </a:spcAft>
              <a:buNone/>
            </a:pPr>
            <a:r>
              <a:rPr b="1" lang="en-US" sz="2000">
                <a:solidFill>
                  <a:schemeClr val="dk1"/>
                </a:solidFill>
                <a:latin typeface="Arial Rounded"/>
                <a:ea typeface="Arial Rounded"/>
                <a:cs typeface="Arial Rounded"/>
                <a:sym typeface="Arial Rounded"/>
              </a:rPr>
              <a:t>Suggestion: Analyze yearly order counts to replicate successful strategies from  peak years like 2004. Develop plans to boost sales during weaker years, customize  marketing based on insights from successful years, and evaluate the impact of  customer engagement on order counts.</a:t>
            </a:r>
            <a:endParaRPr b="1" sz="2000">
              <a:solidFill>
                <a:schemeClr val="dk1"/>
              </a:solidFill>
              <a:latin typeface="Arial Rounded"/>
              <a:ea typeface="Arial Rounded"/>
              <a:cs typeface="Arial Rounded"/>
              <a:sym typeface="Arial Rounde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p13"/>
          <p:cNvPicPr preferRelativeResize="0"/>
          <p:nvPr/>
        </p:nvPicPr>
        <p:blipFill rotWithShape="1">
          <a:blip r:embed="rId3">
            <a:alphaModFix/>
          </a:blip>
          <a:srcRect b="0" l="0" r="0" t="0"/>
          <a:stretch/>
        </p:blipFill>
        <p:spPr>
          <a:xfrm>
            <a:off x="582168" y="472440"/>
            <a:ext cx="11027664" cy="5687568"/>
          </a:xfrm>
          <a:prstGeom prst="rect">
            <a:avLst/>
          </a:prstGeom>
          <a:noFill/>
          <a:ln>
            <a:noFill/>
          </a:ln>
        </p:spPr>
      </p:pic>
      <p:sp>
        <p:nvSpPr>
          <p:cNvPr id="167" name="Google Shape;167;p13"/>
          <p:cNvSpPr txBox="1"/>
          <p:nvPr>
            <p:ph type="title"/>
          </p:nvPr>
        </p:nvSpPr>
        <p:spPr>
          <a:xfrm>
            <a:off x="704799" y="609980"/>
            <a:ext cx="9440545" cy="45339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b="1" lang="en-US" sz="2800">
                <a:solidFill>
                  <a:srgbClr val="EC7C30"/>
                </a:solidFill>
                <a:latin typeface="Arial Rounded"/>
                <a:ea typeface="Arial Rounded"/>
                <a:cs typeface="Arial Rounded"/>
                <a:sym typeface="Arial Rounded"/>
              </a:rPr>
              <a:t>Find the product which is not ordered by any customer.</a:t>
            </a:r>
            <a:endParaRPr b="1" sz="2800">
              <a:latin typeface="Arial Rounded"/>
              <a:ea typeface="Arial Rounded"/>
              <a:cs typeface="Arial Rounded"/>
              <a:sym typeface="Arial Rounded"/>
            </a:endParaRPr>
          </a:p>
        </p:txBody>
      </p:sp>
      <p:grpSp>
        <p:nvGrpSpPr>
          <p:cNvPr id="168" name="Google Shape;168;p13"/>
          <p:cNvGrpSpPr/>
          <p:nvPr/>
        </p:nvGrpSpPr>
        <p:grpSpPr>
          <a:xfrm>
            <a:off x="816863" y="1490472"/>
            <a:ext cx="10341864" cy="2855976"/>
            <a:chOff x="816863" y="1490472"/>
            <a:chExt cx="10341864" cy="2855976"/>
          </a:xfrm>
        </p:grpSpPr>
        <p:pic>
          <p:nvPicPr>
            <p:cNvPr id="169" name="Google Shape;169;p13"/>
            <p:cNvPicPr preferRelativeResize="0"/>
            <p:nvPr/>
          </p:nvPicPr>
          <p:blipFill rotWithShape="1">
            <a:blip r:embed="rId4">
              <a:alphaModFix/>
            </a:blip>
            <a:srcRect b="0" l="0" r="0" t="0"/>
            <a:stretch/>
          </p:blipFill>
          <p:spPr>
            <a:xfrm>
              <a:off x="8503920" y="2356104"/>
              <a:ext cx="2654807" cy="1127760"/>
            </a:xfrm>
            <a:prstGeom prst="rect">
              <a:avLst/>
            </a:prstGeom>
            <a:noFill/>
            <a:ln>
              <a:noFill/>
            </a:ln>
          </p:spPr>
        </p:pic>
        <p:pic>
          <p:nvPicPr>
            <p:cNvPr id="170" name="Google Shape;170;p13"/>
            <p:cNvPicPr preferRelativeResize="0"/>
            <p:nvPr/>
          </p:nvPicPr>
          <p:blipFill rotWithShape="1">
            <a:blip r:embed="rId5">
              <a:alphaModFix/>
            </a:blip>
            <a:srcRect b="0" l="0" r="0" t="0"/>
            <a:stretch/>
          </p:blipFill>
          <p:spPr>
            <a:xfrm>
              <a:off x="816863" y="1490472"/>
              <a:ext cx="6824472" cy="2855976"/>
            </a:xfrm>
            <a:prstGeom prst="rect">
              <a:avLst/>
            </a:prstGeom>
            <a:noFill/>
            <a:ln>
              <a:noFill/>
            </a:ln>
          </p:spPr>
        </p:pic>
      </p:grpSp>
      <p:sp>
        <p:nvSpPr>
          <p:cNvPr id="171" name="Google Shape;171;p13"/>
          <p:cNvSpPr txBox="1"/>
          <p:nvPr/>
        </p:nvSpPr>
        <p:spPr>
          <a:xfrm>
            <a:off x="806602" y="4696459"/>
            <a:ext cx="10403205" cy="939165"/>
          </a:xfrm>
          <a:prstGeom prst="rect">
            <a:avLst/>
          </a:prstGeom>
          <a:noFill/>
          <a:ln>
            <a:noFill/>
          </a:ln>
        </p:spPr>
        <p:txBody>
          <a:bodyPr anchorCtr="0" anchor="t" bIns="0" lIns="0" spcFirstLastPara="1" rIns="0" wrap="square" tIns="11425">
            <a:spAutoFit/>
          </a:bodyPr>
          <a:lstStyle/>
          <a:p>
            <a:pPr indent="0" lvl="0" marL="12700" marR="5080" rtl="0" algn="l">
              <a:lnSpc>
                <a:spcPct val="100000"/>
              </a:lnSpc>
              <a:spcBef>
                <a:spcPts val="0"/>
              </a:spcBef>
              <a:spcAft>
                <a:spcPts val="0"/>
              </a:spcAft>
              <a:buNone/>
            </a:pPr>
            <a:r>
              <a:rPr b="1" lang="en-US" sz="2000">
                <a:solidFill>
                  <a:schemeClr val="dk1"/>
                </a:solidFill>
                <a:latin typeface="Arial Rounded"/>
                <a:ea typeface="Arial Rounded"/>
                <a:cs typeface="Arial Rounded"/>
                <a:sym typeface="Arial Rounded"/>
              </a:rPr>
              <a:t>Suggestion: Look into the "1985 Toyota Supra" due to its lack of sales and determine  its future in the product lineup. Collect customer feedback and market data to  understand why the product is not selling and make informed decisions.</a:t>
            </a:r>
            <a:endParaRPr b="1" sz="2000">
              <a:solidFill>
                <a:schemeClr val="dk1"/>
              </a:solidFill>
              <a:latin typeface="Arial Rounded"/>
              <a:ea typeface="Arial Rounded"/>
              <a:cs typeface="Arial Rounded"/>
              <a:sym typeface="Arial Rounde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pic>
        <p:nvPicPr>
          <p:cNvPr id="176" name="Google Shape;176;p14"/>
          <p:cNvPicPr preferRelativeResize="0"/>
          <p:nvPr/>
        </p:nvPicPr>
        <p:blipFill rotWithShape="1">
          <a:blip r:embed="rId3">
            <a:alphaModFix/>
          </a:blip>
          <a:srcRect b="0" l="0" r="0" t="0"/>
          <a:stretch/>
        </p:blipFill>
        <p:spPr>
          <a:xfrm>
            <a:off x="582168" y="499872"/>
            <a:ext cx="11027664" cy="5687568"/>
          </a:xfrm>
          <a:prstGeom prst="rect">
            <a:avLst/>
          </a:prstGeom>
          <a:noFill/>
          <a:ln>
            <a:noFill/>
          </a:ln>
        </p:spPr>
      </p:pic>
      <p:sp>
        <p:nvSpPr>
          <p:cNvPr id="177" name="Google Shape;177;p14"/>
          <p:cNvSpPr txBox="1"/>
          <p:nvPr>
            <p:ph type="title"/>
          </p:nvPr>
        </p:nvSpPr>
        <p:spPr>
          <a:xfrm>
            <a:off x="704799" y="609980"/>
            <a:ext cx="10553065" cy="45339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b="1" lang="en-US" sz="2800">
                <a:solidFill>
                  <a:srgbClr val="EC7C30"/>
                </a:solidFill>
                <a:latin typeface="Century Gothic"/>
                <a:ea typeface="Century Gothic"/>
                <a:cs typeface="Century Gothic"/>
                <a:sym typeface="Century Gothic"/>
              </a:rPr>
              <a:t>Find The Number Of Customers For Each Sales Representative</a:t>
            </a:r>
            <a:endParaRPr sz="2800">
              <a:latin typeface="Century Gothic"/>
              <a:ea typeface="Century Gothic"/>
              <a:cs typeface="Century Gothic"/>
              <a:sym typeface="Century Gothic"/>
            </a:endParaRPr>
          </a:p>
        </p:txBody>
      </p:sp>
      <p:grpSp>
        <p:nvGrpSpPr>
          <p:cNvPr id="178" name="Google Shape;178;p14"/>
          <p:cNvGrpSpPr/>
          <p:nvPr/>
        </p:nvGrpSpPr>
        <p:grpSpPr>
          <a:xfrm>
            <a:off x="847344" y="1213103"/>
            <a:ext cx="10497312" cy="3493008"/>
            <a:chOff x="847344" y="1213103"/>
            <a:chExt cx="10497312" cy="3493008"/>
          </a:xfrm>
        </p:grpSpPr>
        <p:pic>
          <p:nvPicPr>
            <p:cNvPr id="179" name="Google Shape;179;p14"/>
            <p:cNvPicPr preferRelativeResize="0"/>
            <p:nvPr/>
          </p:nvPicPr>
          <p:blipFill rotWithShape="1">
            <a:blip r:embed="rId4">
              <a:alphaModFix/>
            </a:blip>
            <a:srcRect b="0" l="0" r="0" t="0"/>
            <a:stretch/>
          </p:blipFill>
          <p:spPr>
            <a:xfrm>
              <a:off x="7565136" y="1429511"/>
              <a:ext cx="3779520" cy="3063240"/>
            </a:xfrm>
            <a:prstGeom prst="rect">
              <a:avLst/>
            </a:prstGeom>
            <a:noFill/>
            <a:ln>
              <a:noFill/>
            </a:ln>
          </p:spPr>
        </p:pic>
        <p:pic>
          <p:nvPicPr>
            <p:cNvPr id="180" name="Google Shape;180;p14"/>
            <p:cNvPicPr preferRelativeResize="0"/>
            <p:nvPr/>
          </p:nvPicPr>
          <p:blipFill rotWithShape="1">
            <a:blip r:embed="rId5">
              <a:alphaModFix/>
            </a:blip>
            <a:srcRect b="0" l="0" r="0" t="0"/>
            <a:stretch/>
          </p:blipFill>
          <p:spPr>
            <a:xfrm>
              <a:off x="847344" y="1213103"/>
              <a:ext cx="6452615" cy="3493008"/>
            </a:xfrm>
            <a:prstGeom prst="rect">
              <a:avLst/>
            </a:prstGeom>
            <a:noFill/>
            <a:ln>
              <a:noFill/>
            </a:ln>
          </p:spPr>
        </p:pic>
      </p:grpSp>
      <p:sp>
        <p:nvSpPr>
          <p:cNvPr id="181" name="Google Shape;181;p14"/>
          <p:cNvSpPr txBox="1"/>
          <p:nvPr/>
        </p:nvSpPr>
        <p:spPr>
          <a:xfrm>
            <a:off x="854760" y="4977206"/>
            <a:ext cx="10549255" cy="93980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b="1" lang="en-US" sz="2000">
                <a:solidFill>
                  <a:schemeClr val="dk1"/>
                </a:solidFill>
                <a:latin typeface="Arial Rounded"/>
                <a:ea typeface="Arial Rounded"/>
                <a:cs typeface="Arial Rounded"/>
                <a:sym typeface="Arial Rounded"/>
              </a:rPr>
              <a:t>Suggestion</a:t>
            </a:r>
            <a:r>
              <a:rPr b="1" lang="en-US" sz="1800">
                <a:solidFill>
                  <a:schemeClr val="dk1"/>
                </a:solidFill>
                <a:latin typeface="Arial Rounded"/>
                <a:ea typeface="Arial Rounded"/>
                <a:cs typeface="Arial Rounded"/>
                <a:sym typeface="Arial Rounded"/>
              </a:rPr>
              <a:t>: </a:t>
            </a:r>
            <a:r>
              <a:rPr b="1" lang="en-US" sz="2000">
                <a:solidFill>
                  <a:schemeClr val="dk1"/>
                </a:solidFill>
                <a:latin typeface="Arial Rounded"/>
                <a:ea typeface="Arial Rounded"/>
                <a:cs typeface="Arial Rounded"/>
                <a:sym typeface="Arial Rounded"/>
              </a:rPr>
              <a:t>Acknowledge and reward high-performing employees like Pamela Castillo  and Barry Jones for their substantial customer base. Encourage other employees to  enhance customer engagement.</a:t>
            </a:r>
            <a:endParaRPr b="1" sz="2000">
              <a:solidFill>
                <a:schemeClr val="dk1"/>
              </a:solidFill>
              <a:latin typeface="Arial Rounded"/>
              <a:ea typeface="Arial Rounded"/>
              <a:cs typeface="Arial Rounded"/>
              <a:sym typeface="Arial Rounde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id="186" name="Google Shape;186;p15"/>
          <p:cNvPicPr preferRelativeResize="0"/>
          <p:nvPr/>
        </p:nvPicPr>
        <p:blipFill rotWithShape="1">
          <a:blip r:embed="rId3">
            <a:alphaModFix/>
          </a:blip>
          <a:srcRect b="0" l="0" r="0" t="0"/>
          <a:stretch/>
        </p:blipFill>
        <p:spPr>
          <a:xfrm>
            <a:off x="582168" y="499872"/>
            <a:ext cx="11027664" cy="5687568"/>
          </a:xfrm>
          <a:prstGeom prst="rect">
            <a:avLst/>
          </a:prstGeom>
          <a:noFill/>
          <a:ln>
            <a:noFill/>
          </a:ln>
        </p:spPr>
      </p:pic>
      <p:sp>
        <p:nvSpPr>
          <p:cNvPr id="187" name="Google Shape;187;p15"/>
          <p:cNvSpPr txBox="1"/>
          <p:nvPr>
            <p:ph type="title"/>
          </p:nvPr>
        </p:nvSpPr>
        <p:spPr>
          <a:xfrm>
            <a:off x="704799" y="397458"/>
            <a:ext cx="10702290" cy="1306830"/>
          </a:xfrm>
          <a:prstGeom prst="rect">
            <a:avLst/>
          </a:prstGeom>
          <a:noFill/>
          <a:ln>
            <a:noFill/>
          </a:ln>
        </p:spPr>
        <p:txBody>
          <a:bodyPr anchorCtr="0" anchor="t" bIns="0" lIns="0" spcFirstLastPara="1" rIns="0" wrap="square" tIns="12050">
            <a:spAutoFit/>
          </a:bodyPr>
          <a:lstStyle/>
          <a:p>
            <a:pPr indent="0" lvl="0" marL="12700" marR="5080" rtl="0" algn="l">
              <a:lnSpc>
                <a:spcPct val="150100"/>
              </a:lnSpc>
              <a:spcBef>
                <a:spcPts val="0"/>
              </a:spcBef>
              <a:spcAft>
                <a:spcPts val="0"/>
              </a:spcAft>
              <a:buNone/>
            </a:pPr>
            <a:r>
              <a:rPr b="1" lang="en-US" sz="2800">
                <a:solidFill>
                  <a:srgbClr val="EC7C30"/>
                </a:solidFill>
                <a:latin typeface="Arial Rounded"/>
                <a:ea typeface="Arial Rounded"/>
                <a:cs typeface="Arial Rounded"/>
                <a:sym typeface="Arial Rounded"/>
              </a:rPr>
              <a:t>find number of products ordered, total quantity and total price  by each vendor</a:t>
            </a:r>
            <a:endParaRPr b="1" sz="2800">
              <a:latin typeface="Arial Rounded"/>
              <a:ea typeface="Arial Rounded"/>
              <a:cs typeface="Arial Rounded"/>
              <a:sym typeface="Arial Rounded"/>
            </a:endParaRPr>
          </a:p>
        </p:txBody>
      </p:sp>
      <p:grpSp>
        <p:nvGrpSpPr>
          <p:cNvPr id="188" name="Google Shape;188;p15"/>
          <p:cNvGrpSpPr/>
          <p:nvPr/>
        </p:nvGrpSpPr>
        <p:grpSpPr>
          <a:xfrm>
            <a:off x="810768" y="1816607"/>
            <a:ext cx="10491215" cy="3048000"/>
            <a:chOff x="810768" y="1816607"/>
            <a:chExt cx="10491215" cy="3048000"/>
          </a:xfrm>
        </p:grpSpPr>
        <p:pic>
          <p:nvPicPr>
            <p:cNvPr id="189" name="Google Shape;189;p15"/>
            <p:cNvPicPr preferRelativeResize="0"/>
            <p:nvPr/>
          </p:nvPicPr>
          <p:blipFill rotWithShape="1">
            <a:blip r:embed="rId4">
              <a:alphaModFix/>
            </a:blip>
            <a:srcRect b="0" l="0" r="0" t="0"/>
            <a:stretch/>
          </p:blipFill>
          <p:spPr>
            <a:xfrm>
              <a:off x="7525511" y="1923287"/>
              <a:ext cx="3776472" cy="2834640"/>
            </a:xfrm>
            <a:prstGeom prst="rect">
              <a:avLst/>
            </a:prstGeom>
            <a:noFill/>
            <a:ln>
              <a:noFill/>
            </a:ln>
          </p:spPr>
        </p:pic>
        <p:pic>
          <p:nvPicPr>
            <p:cNvPr id="190" name="Google Shape;190;p15"/>
            <p:cNvPicPr preferRelativeResize="0"/>
            <p:nvPr/>
          </p:nvPicPr>
          <p:blipFill rotWithShape="1">
            <a:blip r:embed="rId5">
              <a:alphaModFix/>
            </a:blip>
            <a:srcRect b="0" l="0" r="0" t="0"/>
            <a:stretch/>
          </p:blipFill>
          <p:spPr>
            <a:xfrm>
              <a:off x="810768" y="1816607"/>
              <a:ext cx="6406896" cy="3048000"/>
            </a:xfrm>
            <a:prstGeom prst="rect">
              <a:avLst/>
            </a:prstGeom>
            <a:noFill/>
            <a:ln>
              <a:noFill/>
            </a:ln>
          </p:spPr>
        </p:pic>
      </p:grpSp>
      <p:sp>
        <p:nvSpPr>
          <p:cNvPr id="191" name="Google Shape;191;p15"/>
          <p:cNvSpPr txBox="1"/>
          <p:nvPr/>
        </p:nvSpPr>
        <p:spPr>
          <a:xfrm>
            <a:off x="822147" y="5204536"/>
            <a:ext cx="10545445" cy="6350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2000">
                <a:solidFill>
                  <a:schemeClr val="dk1"/>
                </a:solidFill>
                <a:latin typeface="Arial Rounded"/>
                <a:ea typeface="Arial Rounded"/>
                <a:cs typeface="Arial Rounded"/>
                <a:sym typeface="Arial Rounded"/>
              </a:rPr>
              <a:t>Suggestion: Enhance relationships with top vendors, consider product expansion with</a:t>
            </a:r>
            <a:endParaRPr b="1" sz="2000">
              <a:solidFill>
                <a:schemeClr val="dk1"/>
              </a:solidFill>
              <a:latin typeface="Arial Rounded"/>
              <a:ea typeface="Arial Rounded"/>
              <a:cs typeface="Arial Rounded"/>
              <a:sym typeface="Arial Rounded"/>
            </a:endParaRPr>
          </a:p>
          <a:p>
            <a:pPr indent="0" lvl="0" marL="12700" marR="0" rtl="0" algn="l">
              <a:lnSpc>
                <a:spcPct val="100000"/>
              </a:lnSpc>
              <a:spcBef>
                <a:spcPts val="0"/>
              </a:spcBef>
              <a:spcAft>
                <a:spcPts val="0"/>
              </a:spcAft>
              <a:buNone/>
            </a:pPr>
            <a:r>
              <a:rPr b="1" lang="en-US" sz="2000">
                <a:solidFill>
                  <a:schemeClr val="dk1"/>
                </a:solidFill>
                <a:latin typeface="Arial Rounded"/>
                <a:ea typeface="Arial Rounded"/>
                <a:cs typeface="Arial Rounded"/>
                <a:sym typeface="Arial Rounded"/>
              </a:rPr>
              <a:t>selected vendors, and align product offerings with market and customer preferences.</a:t>
            </a:r>
            <a:endParaRPr b="1" sz="2000">
              <a:solidFill>
                <a:schemeClr val="dk1"/>
              </a:solidFill>
              <a:latin typeface="Arial Rounded"/>
              <a:ea typeface="Arial Rounded"/>
              <a:cs typeface="Arial Rounded"/>
              <a:sym typeface="Arial Rounde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p16"/>
          <p:cNvPicPr preferRelativeResize="0"/>
          <p:nvPr/>
        </p:nvPicPr>
        <p:blipFill rotWithShape="1">
          <a:blip r:embed="rId3">
            <a:alphaModFix/>
          </a:blip>
          <a:srcRect b="0" l="0" r="0" t="0"/>
          <a:stretch/>
        </p:blipFill>
        <p:spPr>
          <a:xfrm>
            <a:off x="582168" y="499872"/>
            <a:ext cx="11027664" cy="5687568"/>
          </a:xfrm>
          <a:prstGeom prst="rect">
            <a:avLst/>
          </a:prstGeom>
          <a:noFill/>
          <a:ln>
            <a:noFill/>
          </a:ln>
        </p:spPr>
      </p:pic>
      <p:sp>
        <p:nvSpPr>
          <p:cNvPr id="197" name="Google Shape;197;p16"/>
          <p:cNvSpPr txBox="1"/>
          <p:nvPr>
            <p:ph type="title"/>
          </p:nvPr>
        </p:nvSpPr>
        <p:spPr>
          <a:xfrm>
            <a:off x="704799" y="609980"/>
            <a:ext cx="10418445" cy="45339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b="1" lang="en-US" sz="2800">
                <a:solidFill>
                  <a:srgbClr val="EC7C30"/>
                </a:solidFill>
                <a:latin typeface="Arial Rounded"/>
                <a:ea typeface="Arial Rounded"/>
                <a:cs typeface="Arial Rounded"/>
                <a:sym typeface="Arial Rounded"/>
              </a:rPr>
              <a:t>find customers, orders, total products of "On Hold" products</a:t>
            </a:r>
            <a:endParaRPr b="1" sz="2800">
              <a:latin typeface="Arial Rounded"/>
              <a:ea typeface="Arial Rounded"/>
              <a:cs typeface="Arial Rounded"/>
              <a:sym typeface="Arial Rounded"/>
            </a:endParaRPr>
          </a:p>
        </p:txBody>
      </p:sp>
      <p:grpSp>
        <p:nvGrpSpPr>
          <p:cNvPr id="198" name="Google Shape;198;p16"/>
          <p:cNvGrpSpPr/>
          <p:nvPr/>
        </p:nvGrpSpPr>
        <p:grpSpPr>
          <a:xfrm>
            <a:off x="804672" y="1234439"/>
            <a:ext cx="10607039" cy="4718305"/>
            <a:chOff x="804672" y="1234439"/>
            <a:chExt cx="10607039" cy="4718305"/>
          </a:xfrm>
        </p:grpSpPr>
        <p:pic>
          <p:nvPicPr>
            <p:cNvPr id="199" name="Google Shape;199;p16"/>
            <p:cNvPicPr preferRelativeResize="0"/>
            <p:nvPr/>
          </p:nvPicPr>
          <p:blipFill rotWithShape="1">
            <a:blip r:embed="rId4">
              <a:alphaModFix/>
            </a:blip>
            <a:srcRect b="0" l="0" r="0" t="0"/>
            <a:stretch/>
          </p:blipFill>
          <p:spPr>
            <a:xfrm>
              <a:off x="6973824" y="1234439"/>
              <a:ext cx="4437887" cy="1325879"/>
            </a:xfrm>
            <a:prstGeom prst="rect">
              <a:avLst/>
            </a:prstGeom>
            <a:noFill/>
            <a:ln>
              <a:noFill/>
            </a:ln>
          </p:spPr>
        </p:pic>
        <p:pic>
          <p:nvPicPr>
            <p:cNvPr id="200" name="Google Shape;200;p16"/>
            <p:cNvPicPr preferRelativeResize="0"/>
            <p:nvPr/>
          </p:nvPicPr>
          <p:blipFill rotWithShape="1">
            <a:blip r:embed="rId5">
              <a:alphaModFix/>
            </a:blip>
            <a:srcRect b="0" l="0" r="0" t="0"/>
            <a:stretch/>
          </p:blipFill>
          <p:spPr>
            <a:xfrm>
              <a:off x="804672" y="1234440"/>
              <a:ext cx="5952744" cy="4718304"/>
            </a:xfrm>
            <a:prstGeom prst="rect">
              <a:avLst/>
            </a:prstGeom>
            <a:noFill/>
            <a:ln>
              <a:noFill/>
            </a:ln>
          </p:spPr>
        </p:pic>
      </p:grpSp>
      <p:sp>
        <p:nvSpPr>
          <p:cNvPr id="201" name="Google Shape;201;p16"/>
          <p:cNvSpPr txBox="1"/>
          <p:nvPr/>
        </p:nvSpPr>
        <p:spPr>
          <a:xfrm>
            <a:off x="7033641" y="2665552"/>
            <a:ext cx="4400550" cy="6350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2000">
                <a:solidFill>
                  <a:schemeClr val="dk1"/>
                </a:solidFill>
                <a:latin typeface="Arial Rounded"/>
                <a:ea typeface="Arial Rounded"/>
                <a:cs typeface="Arial Rounded"/>
                <a:sym typeface="Arial Rounded"/>
              </a:rPr>
              <a:t>Reach out to customers with orders</a:t>
            </a:r>
            <a:endParaRPr b="1" sz="2000">
              <a:solidFill>
                <a:schemeClr val="dk1"/>
              </a:solidFill>
              <a:latin typeface="Arial Rounded"/>
              <a:ea typeface="Arial Rounded"/>
              <a:cs typeface="Arial Rounded"/>
              <a:sym typeface="Arial Rounded"/>
            </a:endParaRPr>
          </a:p>
          <a:p>
            <a:pPr indent="0" lvl="0" marL="12700" marR="0" rtl="0" algn="l">
              <a:lnSpc>
                <a:spcPct val="100000"/>
              </a:lnSpc>
              <a:spcBef>
                <a:spcPts val="0"/>
              </a:spcBef>
              <a:spcAft>
                <a:spcPts val="0"/>
              </a:spcAft>
              <a:buNone/>
            </a:pPr>
            <a:r>
              <a:rPr b="1" lang="en-US" sz="2000">
                <a:solidFill>
                  <a:schemeClr val="dk1"/>
                </a:solidFill>
                <a:latin typeface="Arial Rounded"/>
                <a:ea typeface="Arial Rounded"/>
                <a:cs typeface="Arial Rounded"/>
                <a:sym typeface="Arial Rounded"/>
              </a:rPr>
              <a:t>"On Hold" promptly to resolve their</a:t>
            </a:r>
            <a:endParaRPr b="1" sz="2000">
              <a:solidFill>
                <a:schemeClr val="dk1"/>
              </a:solidFill>
              <a:latin typeface="Arial Rounded"/>
              <a:ea typeface="Arial Rounded"/>
              <a:cs typeface="Arial Rounded"/>
              <a:sym typeface="Arial Rounded"/>
            </a:endParaRPr>
          </a:p>
        </p:txBody>
      </p:sp>
      <p:sp>
        <p:nvSpPr>
          <p:cNvPr id="202" name="Google Shape;202;p16"/>
          <p:cNvSpPr txBox="1"/>
          <p:nvPr/>
        </p:nvSpPr>
        <p:spPr>
          <a:xfrm>
            <a:off x="7033641" y="3275837"/>
            <a:ext cx="1845310" cy="634365"/>
          </a:xfrm>
          <a:prstGeom prst="rect">
            <a:avLst/>
          </a:prstGeom>
          <a:noFill/>
          <a:ln>
            <a:noFill/>
          </a:ln>
        </p:spPr>
        <p:txBody>
          <a:bodyPr anchorCtr="0" anchor="t" bIns="0" lIns="0" spcFirstLastPara="1" rIns="0" wrap="square" tIns="11425">
            <a:spAutoFit/>
          </a:bodyPr>
          <a:lstStyle/>
          <a:p>
            <a:pPr indent="0" lvl="0" marL="12700" marR="5080" rtl="0" algn="l">
              <a:lnSpc>
                <a:spcPct val="100000"/>
              </a:lnSpc>
              <a:spcBef>
                <a:spcPts val="0"/>
              </a:spcBef>
              <a:spcAft>
                <a:spcPts val="0"/>
              </a:spcAft>
              <a:buNone/>
            </a:pPr>
            <a:r>
              <a:rPr b="1" lang="en-US" sz="2000">
                <a:solidFill>
                  <a:schemeClr val="dk1"/>
                </a:solidFill>
                <a:latin typeface="Arial Rounded"/>
                <a:ea typeface="Arial Rounded"/>
                <a:cs typeface="Arial Rounded"/>
                <a:sym typeface="Arial Rounded"/>
              </a:rPr>
              <a:t>concerns	and  experience.</a:t>
            </a:r>
            <a:endParaRPr b="1" sz="2000">
              <a:solidFill>
                <a:schemeClr val="dk1"/>
              </a:solidFill>
              <a:latin typeface="Arial Rounded"/>
              <a:ea typeface="Arial Rounded"/>
              <a:cs typeface="Arial Rounded"/>
              <a:sym typeface="Arial Rounded"/>
            </a:endParaRPr>
          </a:p>
        </p:txBody>
      </p:sp>
      <p:sp>
        <p:nvSpPr>
          <p:cNvPr id="203" name="Google Shape;203;p16"/>
          <p:cNvSpPr txBox="1"/>
          <p:nvPr/>
        </p:nvSpPr>
        <p:spPr>
          <a:xfrm>
            <a:off x="9051797" y="3275837"/>
            <a:ext cx="2384425" cy="634365"/>
          </a:xfrm>
          <a:prstGeom prst="rect">
            <a:avLst/>
          </a:prstGeom>
          <a:noFill/>
          <a:ln>
            <a:noFill/>
          </a:ln>
        </p:spPr>
        <p:txBody>
          <a:bodyPr anchorCtr="0" anchor="t" bIns="0" lIns="0" spcFirstLastPara="1" rIns="0" wrap="square" tIns="11425">
            <a:spAutoFit/>
          </a:bodyPr>
          <a:lstStyle/>
          <a:p>
            <a:pPr indent="-15240" lvl="0" marL="27940" marR="5080" rtl="0" algn="l">
              <a:lnSpc>
                <a:spcPct val="100000"/>
              </a:lnSpc>
              <a:spcBef>
                <a:spcPts val="0"/>
              </a:spcBef>
              <a:spcAft>
                <a:spcPts val="0"/>
              </a:spcAft>
              <a:buNone/>
            </a:pPr>
            <a:r>
              <a:rPr b="1" lang="en-US" sz="2000">
                <a:solidFill>
                  <a:schemeClr val="dk1"/>
                </a:solidFill>
                <a:latin typeface="Arial Rounded"/>
                <a:ea typeface="Arial Rounded"/>
                <a:cs typeface="Arial Rounded"/>
                <a:sym typeface="Arial Rounded"/>
              </a:rPr>
              <a:t>ensure	a	 positive  Check		product</a:t>
            </a:r>
            <a:endParaRPr b="1" sz="2000">
              <a:solidFill>
                <a:schemeClr val="dk1"/>
              </a:solidFill>
              <a:latin typeface="Arial Rounded"/>
              <a:ea typeface="Arial Rounded"/>
              <a:cs typeface="Arial Rounded"/>
              <a:sym typeface="Arial Rounded"/>
            </a:endParaRPr>
          </a:p>
        </p:txBody>
      </p:sp>
      <p:sp>
        <p:nvSpPr>
          <p:cNvPr id="204" name="Google Shape;204;p16"/>
          <p:cNvSpPr txBox="1"/>
          <p:nvPr/>
        </p:nvSpPr>
        <p:spPr>
          <a:xfrm>
            <a:off x="7033641" y="3885691"/>
            <a:ext cx="4400550" cy="329565"/>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lang="en-US" sz="2000">
                <a:solidFill>
                  <a:schemeClr val="dk1"/>
                </a:solidFill>
                <a:latin typeface="Arial Rounded"/>
                <a:ea typeface="Arial Rounded"/>
                <a:cs typeface="Arial Rounded"/>
                <a:sym typeface="Arial Rounded"/>
              </a:rPr>
              <a:t>availability to fulfil orders promptly.</a:t>
            </a:r>
            <a:endParaRPr b="1" sz="2000">
              <a:solidFill>
                <a:schemeClr val="dk1"/>
              </a:solidFill>
              <a:latin typeface="Arial Rounded"/>
              <a:ea typeface="Arial Rounded"/>
              <a:cs typeface="Arial Rounded"/>
              <a:sym typeface="Arial Rounded"/>
            </a:endParaRPr>
          </a:p>
        </p:txBody>
      </p:sp>
      <p:sp>
        <p:nvSpPr>
          <p:cNvPr id="205" name="Google Shape;205;p16"/>
          <p:cNvSpPr txBox="1"/>
          <p:nvPr/>
        </p:nvSpPr>
        <p:spPr>
          <a:xfrm>
            <a:off x="7033641" y="4190187"/>
            <a:ext cx="1445260" cy="634365"/>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2000">
                <a:solidFill>
                  <a:schemeClr val="dk1"/>
                </a:solidFill>
                <a:latin typeface="Arial Rounded"/>
                <a:ea typeface="Arial Rounded"/>
                <a:cs typeface="Arial Rounded"/>
                <a:sym typeface="Arial Rounded"/>
              </a:rPr>
              <a:t>Ensure</a:t>
            </a:r>
            <a:endParaRPr b="1" sz="2000">
              <a:solidFill>
                <a:schemeClr val="dk1"/>
              </a:solidFill>
              <a:latin typeface="Arial Rounded"/>
              <a:ea typeface="Arial Rounded"/>
              <a:cs typeface="Arial Rounded"/>
              <a:sym typeface="Arial Rounded"/>
            </a:endParaRPr>
          </a:p>
          <a:p>
            <a:pPr indent="0" lvl="0" marL="12700" marR="0" rtl="0" algn="l">
              <a:lnSpc>
                <a:spcPct val="100000"/>
              </a:lnSpc>
              <a:spcBef>
                <a:spcPts val="0"/>
              </a:spcBef>
              <a:spcAft>
                <a:spcPts val="0"/>
              </a:spcAft>
              <a:buNone/>
            </a:pPr>
            <a:r>
              <a:rPr b="1" lang="en-US" sz="2000">
                <a:solidFill>
                  <a:schemeClr val="dk1"/>
                </a:solidFill>
                <a:latin typeface="Arial Rounded"/>
                <a:ea typeface="Arial Rounded"/>
                <a:cs typeface="Arial Rounded"/>
                <a:sym typeface="Arial Rounded"/>
              </a:rPr>
              <a:t>procedures</a:t>
            </a:r>
            <a:endParaRPr b="1" sz="2000">
              <a:solidFill>
                <a:schemeClr val="dk1"/>
              </a:solidFill>
              <a:latin typeface="Arial Rounded"/>
              <a:ea typeface="Arial Rounded"/>
              <a:cs typeface="Arial Rounded"/>
              <a:sym typeface="Arial Rounded"/>
            </a:endParaRPr>
          </a:p>
        </p:txBody>
      </p:sp>
      <p:sp>
        <p:nvSpPr>
          <p:cNvPr id="206" name="Google Shape;206;p16"/>
          <p:cNvSpPr txBox="1"/>
          <p:nvPr/>
        </p:nvSpPr>
        <p:spPr>
          <a:xfrm>
            <a:off x="8664702" y="4190187"/>
            <a:ext cx="2769235" cy="634365"/>
          </a:xfrm>
          <a:prstGeom prst="rect">
            <a:avLst/>
          </a:prstGeom>
          <a:noFill/>
          <a:ln>
            <a:noFill/>
          </a:ln>
        </p:spPr>
        <p:txBody>
          <a:bodyPr anchorCtr="0" anchor="t" bIns="0" lIns="0" spcFirstLastPara="1" rIns="0" wrap="square" tIns="12050">
            <a:spAutoFit/>
          </a:bodyPr>
          <a:lstStyle/>
          <a:p>
            <a:pPr indent="0" lvl="0" marL="0" marR="5080" rtl="0" algn="r">
              <a:lnSpc>
                <a:spcPct val="100000"/>
              </a:lnSpc>
              <a:spcBef>
                <a:spcPts val="0"/>
              </a:spcBef>
              <a:spcAft>
                <a:spcPts val="0"/>
              </a:spcAft>
              <a:buNone/>
            </a:pPr>
            <a:r>
              <a:rPr b="1" lang="en-US" sz="2000">
                <a:solidFill>
                  <a:schemeClr val="dk1"/>
                </a:solidFill>
                <a:latin typeface="Arial Rounded"/>
                <a:ea typeface="Arial Rounded"/>
                <a:cs typeface="Arial Rounded"/>
                <a:sym typeface="Arial Rounded"/>
              </a:rPr>
              <a:t>smooth	payment</a:t>
            </a:r>
            <a:endParaRPr b="1" sz="2000">
              <a:solidFill>
                <a:schemeClr val="dk1"/>
              </a:solidFill>
              <a:latin typeface="Arial Rounded"/>
              <a:ea typeface="Arial Rounded"/>
              <a:cs typeface="Arial Rounded"/>
              <a:sym typeface="Arial Rounded"/>
            </a:endParaRPr>
          </a:p>
          <a:p>
            <a:pPr indent="0" lvl="0" marL="0" marR="6985" rtl="0" algn="r">
              <a:lnSpc>
                <a:spcPct val="100000"/>
              </a:lnSpc>
              <a:spcBef>
                <a:spcPts val="0"/>
              </a:spcBef>
              <a:spcAft>
                <a:spcPts val="0"/>
              </a:spcAft>
              <a:buNone/>
            </a:pPr>
            <a:r>
              <a:rPr b="1" lang="en-US" sz="2000">
                <a:solidFill>
                  <a:schemeClr val="dk1"/>
                </a:solidFill>
                <a:latin typeface="Arial Rounded"/>
                <a:ea typeface="Arial Rounded"/>
                <a:cs typeface="Arial Rounded"/>
                <a:sym typeface="Arial Rounded"/>
              </a:rPr>
              <a:t>to	prevent	order</a:t>
            </a:r>
            <a:endParaRPr b="1" sz="2000">
              <a:solidFill>
                <a:schemeClr val="dk1"/>
              </a:solidFill>
              <a:latin typeface="Arial Rounded"/>
              <a:ea typeface="Arial Rounded"/>
              <a:cs typeface="Arial Rounded"/>
              <a:sym typeface="Arial Rounded"/>
            </a:endParaRPr>
          </a:p>
        </p:txBody>
      </p:sp>
      <p:sp>
        <p:nvSpPr>
          <p:cNvPr id="207" name="Google Shape;207;p16"/>
          <p:cNvSpPr txBox="1"/>
          <p:nvPr/>
        </p:nvSpPr>
        <p:spPr>
          <a:xfrm>
            <a:off x="7033641" y="4800041"/>
            <a:ext cx="4399915" cy="1244600"/>
          </a:xfrm>
          <a:prstGeom prst="rect">
            <a:avLst/>
          </a:prstGeom>
          <a:noFill/>
          <a:ln>
            <a:noFill/>
          </a:ln>
        </p:spPr>
        <p:txBody>
          <a:bodyPr anchorCtr="0" anchor="t" bIns="0" lIns="0" spcFirstLastPara="1" rIns="0" wrap="square" tIns="12050">
            <a:spAutoFit/>
          </a:bodyPr>
          <a:lstStyle/>
          <a:p>
            <a:pPr indent="0" lvl="0" marL="12700" marR="5080" rtl="0" algn="just">
              <a:lnSpc>
                <a:spcPct val="100000"/>
              </a:lnSpc>
              <a:spcBef>
                <a:spcPts val="0"/>
              </a:spcBef>
              <a:spcAft>
                <a:spcPts val="0"/>
              </a:spcAft>
              <a:buNone/>
            </a:pPr>
            <a:r>
              <a:rPr b="1" lang="en-US" sz="2000">
                <a:solidFill>
                  <a:schemeClr val="dk1"/>
                </a:solidFill>
                <a:latin typeface="Arial Rounded"/>
                <a:ea typeface="Arial Rounded"/>
                <a:cs typeface="Arial Rounded"/>
                <a:sym typeface="Arial Rounded"/>
              </a:rPr>
              <a:t>delays. Keep customers informed  about order status and estimated  delivery times for better customer  satisfaction.</a:t>
            </a:r>
            <a:endParaRPr b="1" sz="2000">
              <a:solidFill>
                <a:schemeClr val="dk1"/>
              </a:solidFill>
              <a:latin typeface="Arial Rounded"/>
              <a:ea typeface="Arial Rounded"/>
              <a:cs typeface="Arial Rounded"/>
              <a:sym typeface="Arial Rounde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pic>
        <p:nvPicPr>
          <p:cNvPr id="212" name="Google Shape;212;p17"/>
          <p:cNvPicPr preferRelativeResize="0"/>
          <p:nvPr/>
        </p:nvPicPr>
        <p:blipFill rotWithShape="1">
          <a:blip r:embed="rId3">
            <a:alphaModFix/>
          </a:blip>
          <a:srcRect b="0" l="0" r="0" t="0"/>
          <a:stretch/>
        </p:blipFill>
        <p:spPr>
          <a:xfrm>
            <a:off x="582168" y="499872"/>
            <a:ext cx="11027664" cy="5687568"/>
          </a:xfrm>
          <a:prstGeom prst="rect">
            <a:avLst/>
          </a:prstGeom>
          <a:noFill/>
          <a:ln>
            <a:noFill/>
          </a:ln>
        </p:spPr>
      </p:pic>
      <p:sp>
        <p:nvSpPr>
          <p:cNvPr id="213" name="Google Shape;213;p17"/>
          <p:cNvSpPr txBox="1"/>
          <p:nvPr>
            <p:ph type="title"/>
          </p:nvPr>
        </p:nvSpPr>
        <p:spPr>
          <a:xfrm>
            <a:off x="704799" y="609980"/>
            <a:ext cx="9777095" cy="45339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b="1" lang="en-US" sz="2800">
                <a:solidFill>
                  <a:srgbClr val="EC7C30"/>
                </a:solidFill>
                <a:latin typeface="Arial Rounded"/>
                <a:ea typeface="Arial Rounded"/>
                <a:cs typeface="Arial Rounded"/>
                <a:sym typeface="Arial Rounded"/>
              </a:rPr>
              <a:t>Find the customer who taken more days to ship the order</a:t>
            </a:r>
            <a:endParaRPr b="1" sz="2800">
              <a:latin typeface="Arial Rounded"/>
              <a:ea typeface="Arial Rounded"/>
              <a:cs typeface="Arial Rounded"/>
              <a:sym typeface="Arial Rounded"/>
            </a:endParaRPr>
          </a:p>
        </p:txBody>
      </p:sp>
      <p:grpSp>
        <p:nvGrpSpPr>
          <p:cNvPr id="214" name="Google Shape;214;p17"/>
          <p:cNvGrpSpPr/>
          <p:nvPr/>
        </p:nvGrpSpPr>
        <p:grpSpPr>
          <a:xfrm>
            <a:off x="880872" y="1347216"/>
            <a:ext cx="10110216" cy="2791968"/>
            <a:chOff x="880872" y="1347216"/>
            <a:chExt cx="10110216" cy="2791968"/>
          </a:xfrm>
        </p:grpSpPr>
        <p:pic>
          <p:nvPicPr>
            <p:cNvPr id="215" name="Google Shape;215;p17"/>
            <p:cNvPicPr preferRelativeResize="0"/>
            <p:nvPr/>
          </p:nvPicPr>
          <p:blipFill rotWithShape="1">
            <a:blip r:embed="rId4">
              <a:alphaModFix/>
            </a:blip>
            <a:srcRect b="0" l="0" r="0" t="0"/>
            <a:stretch/>
          </p:blipFill>
          <p:spPr>
            <a:xfrm>
              <a:off x="7394448" y="2417063"/>
              <a:ext cx="3596640" cy="655320"/>
            </a:xfrm>
            <a:prstGeom prst="rect">
              <a:avLst/>
            </a:prstGeom>
            <a:noFill/>
            <a:ln>
              <a:noFill/>
            </a:ln>
          </p:spPr>
        </p:pic>
        <p:pic>
          <p:nvPicPr>
            <p:cNvPr id="216" name="Google Shape;216;p17"/>
            <p:cNvPicPr preferRelativeResize="0"/>
            <p:nvPr/>
          </p:nvPicPr>
          <p:blipFill rotWithShape="1">
            <a:blip r:embed="rId5">
              <a:alphaModFix/>
            </a:blip>
            <a:srcRect b="0" l="0" r="0" t="0"/>
            <a:stretch/>
          </p:blipFill>
          <p:spPr>
            <a:xfrm>
              <a:off x="880872" y="1347216"/>
              <a:ext cx="6028944" cy="2791968"/>
            </a:xfrm>
            <a:prstGeom prst="rect">
              <a:avLst/>
            </a:prstGeom>
            <a:noFill/>
            <a:ln>
              <a:noFill/>
            </a:ln>
          </p:spPr>
        </p:pic>
      </p:grpSp>
      <p:sp>
        <p:nvSpPr>
          <p:cNvPr id="217" name="Google Shape;217;p17"/>
          <p:cNvSpPr txBox="1"/>
          <p:nvPr/>
        </p:nvSpPr>
        <p:spPr>
          <a:xfrm>
            <a:off x="870610" y="4408754"/>
            <a:ext cx="10287635" cy="1247775"/>
          </a:xfrm>
          <a:prstGeom prst="rect">
            <a:avLst/>
          </a:prstGeom>
          <a:noFill/>
          <a:ln>
            <a:noFill/>
          </a:ln>
        </p:spPr>
        <p:txBody>
          <a:bodyPr anchorCtr="0" anchor="t" bIns="0" lIns="0" spcFirstLastPara="1" rIns="0" wrap="square" tIns="10775">
            <a:spAutoFit/>
          </a:bodyPr>
          <a:lstStyle/>
          <a:p>
            <a:pPr indent="0" lvl="0" marL="12700" marR="5080" rtl="0" algn="l">
              <a:lnSpc>
                <a:spcPct val="100400"/>
              </a:lnSpc>
              <a:spcBef>
                <a:spcPts val="0"/>
              </a:spcBef>
              <a:spcAft>
                <a:spcPts val="0"/>
              </a:spcAft>
              <a:buNone/>
            </a:pPr>
            <a:r>
              <a:rPr b="1" lang="en-US" sz="2000">
                <a:solidFill>
                  <a:schemeClr val="dk1"/>
                </a:solidFill>
                <a:latin typeface="Arial Rounded"/>
                <a:ea typeface="Arial Rounded"/>
                <a:cs typeface="Arial Rounded"/>
                <a:sym typeface="Arial Rounded"/>
              </a:rPr>
              <a:t>Suggestion</a:t>
            </a:r>
            <a:r>
              <a:rPr lang="en-US" sz="2000">
                <a:solidFill>
                  <a:schemeClr val="dk1"/>
                </a:solidFill>
                <a:latin typeface="Arial"/>
                <a:ea typeface="Arial"/>
                <a:cs typeface="Arial"/>
                <a:sym typeface="Arial"/>
              </a:rPr>
              <a:t>: </a:t>
            </a:r>
            <a:r>
              <a:rPr b="1" lang="en-US" sz="2000">
                <a:solidFill>
                  <a:schemeClr val="dk1"/>
                </a:solidFill>
                <a:latin typeface="Arial Rounded"/>
                <a:ea typeface="Arial Rounded"/>
                <a:cs typeface="Arial Rounded"/>
                <a:sym typeface="Arial Rounded"/>
              </a:rPr>
              <a:t>Improve order processing and reduce the time from order placement to  shipment. , optimizing inventory to meet demand more efficiently, maintaining  transparent customer order status updates, streamlining the supply chain, and  continuously benchmarking against competitors for competitiveness.</a:t>
            </a:r>
            <a:endParaRPr b="1" sz="2000">
              <a:solidFill>
                <a:schemeClr val="dk1"/>
              </a:solidFill>
              <a:latin typeface="Arial Rounded"/>
              <a:ea typeface="Arial Rounded"/>
              <a:cs typeface="Arial Rounded"/>
              <a:sym typeface="Arial Rounde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18"/>
          <p:cNvPicPr preferRelativeResize="0"/>
          <p:nvPr/>
        </p:nvPicPr>
        <p:blipFill rotWithShape="1">
          <a:blip r:embed="rId3">
            <a:alphaModFix/>
          </a:blip>
          <a:srcRect b="0" l="0" r="0" t="0"/>
          <a:stretch/>
        </p:blipFill>
        <p:spPr>
          <a:xfrm>
            <a:off x="582168" y="499872"/>
            <a:ext cx="11027664" cy="5687568"/>
          </a:xfrm>
          <a:prstGeom prst="rect">
            <a:avLst/>
          </a:prstGeom>
          <a:noFill/>
          <a:ln>
            <a:noFill/>
          </a:ln>
        </p:spPr>
      </p:pic>
      <p:sp>
        <p:nvSpPr>
          <p:cNvPr id="223" name="Google Shape;223;p18"/>
          <p:cNvSpPr txBox="1"/>
          <p:nvPr>
            <p:ph type="title"/>
          </p:nvPr>
        </p:nvSpPr>
        <p:spPr>
          <a:xfrm>
            <a:off x="763320" y="696925"/>
            <a:ext cx="8777605" cy="45402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b="1" lang="en-US" sz="2800">
                <a:solidFill>
                  <a:srgbClr val="EC7C30"/>
                </a:solidFill>
                <a:latin typeface="Arial Rounded"/>
                <a:ea typeface="Arial Rounded"/>
                <a:cs typeface="Arial Rounded"/>
                <a:sym typeface="Arial Rounded"/>
              </a:rPr>
              <a:t>Find Number Of Products Ordered By Each Vendor</a:t>
            </a:r>
            <a:endParaRPr b="1" sz="2800">
              <a:latin typeface="Arial Rounded"/>
              <a:ea typeface="Arial Rounded"/>
              <a:cs typeface="Arial Rounded"/>
              <a:sym typeface="Arial Rounded"/>
            </a:endParaRPr>
          </a:p>
        </p:txBody>
      </p:sp>
      <p:grpSp>
        <p:nvGrpSpPr>
          <p:cNvPr id="224" name="Google Shape;224;p18"/>
          <p:cNvGrpSpPr/>
          <p:nvPr/>
        </p:nvGrpSpPr>
        <p:grpSpPr>
          <a:xfrm>
            <a:off x="822960" y="1322832"/>
            <a:ext cx="10152887" cy="3389376"/>
            <a:chOff x="822960" y="1322832"/>
            <a:chExt cx="10152887" cy="3389376"/>
          </a:xfrm>
        </p:grpSpPr>
        <p:pic>
          <p:nvPicPr>
            <p:cNvPr id="225" name="Google Shape;225;p18"/>
            <p:cNvPicPr preferRelativeResize="0"/>
            <p:nvPr/>
          </p:nvPicPr>
          <p:blipFill rotWithShape="1">
            <a:blip r:embed="rId4">
              <a:alphaModFix/>
            </a:blip>
            <a:srcRect b="0" l="0" r="0" t="0"/>
            <a:stretch/>
          </p:blipFill>
          <p:spPr>
            <a:xfrm>
              <a:off x="8293607" y="1356360"/>
              <a:ext cx="2682240" cy="3020568"/>
            </a:xfrm>
            <a:prstGeom prst="rect">
              <a:avLst/>
            </a:prstGeom>
            <a:noFill/>
            <a:ln>
              <a:noFill/>
            </a:ln>
          </p:spPr>
        </p:pic>
        <p:pic>
          <p:nvPicPr>
            <p:cNvPr id="226" name="Google Shape;226;p18"/>
            <p:cNvPicPr preferRelativeResize="0"/>
            <p:nvPr/>
          </p:nvPicPr>
          <p:blipFill rotWithShape="1">
            <a:blip r:embed="rId5">
              <a:alphaModFix/>
            </a:blip>
            <a:srcRect b="0" l="0" r="0" t="0"/>
            <a:stretch/>
          </p:blipFill>
          <p:spPr>
            <a:xfrm>
              <a:off x="822960" y="1322832"/>
              <a:ext cx="6839711" cy="3389376"/>
            </a:xfrm>
            <a:prstGeom prst="rect">
              <a:avLst/>
            </a:prstGeom>
            <a:noFill/>
            <a:ln>
              <a:noFill/>
            </a:ln>
          </p:spPr>
        </p:pic>
      </p:grpSp>
      <p:sp>
        <p:nvSpPr>
          <p:cNvPr id="227" name="Google Shape;227;p18"/>
          <p:cNvSpPr txBox="1"/>
          <p:nvPr/>
        </p:nvSpPr>
        <p:spPr>
          <a:xfrm>
            <a:off x="901090" y="4870526"/>
            <a:ext cx="10234930" cy="112395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b="1" lang="en-US" sz="2400">
                <a:solidFill>
                  <a:schemeClr val="dk1"/>
                </a:solidFill>
                <a:latin typeface="Arial Rounded"/>
                <a:ea typeface="Arial Rounded"/>
                <a:cs typeface="Arial Rounded"/>
                <a:sym typeface="Arial Rounded"/>
              </a:rPr>
              <a:t>Suggestion: Prioritize top-performing vendors with high order counts.  Ensure efficient supply chain management, particularly for vendors  with high order volumes.</a:t>
            </a:r>
            <a:endParaRPr b="1" sz="2400">
              <a:solidFill>
                <a:schemeClr val="dk1"/>
              </a:solidFill>
              <a:latin typeface="Arial Rounded"/>
              <a:ea typeface="Arial Rounded"/>
              <a:cs typeface="Arial Rounded"/>
              <a:sym typeface="Arial Rounde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id="232" name="Google Shape;232;p19"/>
          <p:cNvPicPr preferRelativeResize="0"/>
          <p:nvPr/>
        </p:nvPicPr>
        <p:blipFill rotWithShape="1">
          <a:blip r:embed="rId3">
            <a:alphaModFix/>
          </a:blip>
          <a:srcRect b="0" l="0" r="0" t="0"/>
          <a:stretch/>
        </p:blipFill>
        <p:spPr>
          <a:xfrm>
            <a:off x="582168" y="499872"/>
            <a:ext cx="11027664" cy="5687568"/>
          </a:xfrm>
          <a:prstGeom prst="rect">
            <a:avLst/>
          </a:prstGeom>
          <a:noFill/>
          <a:ln>
            <a:noFill/>
          </a:ln>
        </p:spPr>
      </p:pic>
      <p:sp>
        <p:nvSpPr>
          <p:cNvPr id="233" name="Google Shape;233;p19"/>
          <p:cNvSpPr txBox="1"/>
          <p:nvPr/>
        </p:nvSpPr>
        <p:spPr>
          <a:xfrm>
            <a:off x="827025" y="1402175"/>
            <a:ext cx="10703700" cy="4245300"/>
          </a:xfrm>
          <a:prstGeom prst="rect">
            <a:avLst/>
          </a:prstGeom>
          <a:noFill/>
          <a:ln>
            <a:noFill/>
          </a:ln>
        </p:spPr>
        <p:txBody>
          <a:bodyPr anchorCtr="0" anchor="t" bIns="0" lIns="0" spcFirstLastPara="1" rIns="0" wrap="square" tIns="12700">
            <a:spAutoFit/>
          </a:bodyPr>
          <a:lstStyle/>
          <a:p>
            <a:pPr indent="-287019" lvl="0" marL="299085" marR="5080" rtl="0" algn="just">
              <a:lnSpc>
                <a:spcPct val="149400"/>
              </a:lnSpc>
              <a:spcBef>
                <a:spcPts val="0"/>
              </a:spcBef>
              <a:spcAft>
                <a:spcPts val="0"/>
              </a:spcAft>
              <a:buClr>
                <a:schemeClr val="dk1"/>
              </a:buClr>
              <a:buSzPts val="1700"/>
              <a:buFont typeface="Arial"/>
              <a:buChar char="•"/>
            </a:pPr>
            <a:r>
              <a:rPr b="1" lang="en-US" sz="1700">
                <a:solidFill>
                  <a:schemeClr val="dk1"/>
                </a:solidFill>
                <a:latin typeface="Arial Rounded"/>
                <a:ea typeface="Arial Rounded"/>
                <a:cs typeface="Arial Rounded"/>
                <a:sym typeface="Arial Rounded"/>
              </a:rPr>
              <a:t>Customer Distribution: Most of our customers are located in the USA, with Germany following  closely.</a:t>
            </a:r>
            <a:endParaRPr b="1" sz="1700">
              <a:solidFill>
                <a:schemeClr val="dk1"/>
              </a:solidFill>
              <a:latin typeface="Arial Rounded"/>
              <a:ea typeface="Arial Rounded"/>
              <a:cs typeface="Arial Rounded"/>
              <a:sym typeface="Arial Rounded"/>
            </a:endParaRPr>
          </a:p>
          <a:p>
            <a:pPr indent="-287019" lvl="0" marL="299085" marR="0" rtl="0" algn="just">
              <a:lnSpc>
                <a:spcPct val="100000"/>
              </a:lnSpc>
              <a:spcBef>
                <a:spcPts val="1030"/>
              </a:spcBef>
              <a:spcAft>
                <a:spcPts val="0"/>
              </a:spcAft>
              <a:buClr>
                <a:schemeClr val="dk1"/>
              </a:buClr>
              <a:buSzPts val="1700"/>
              <a:buFont typeface="Arial"/>
              <a:buChar char="•"/>
            </a:pPr>
            <a:r>
              <a:rPr b="1" lang="en-US" sz="1700">
                <a:solidFill>
                  <a:schemeClr val="dk1"/>
                </a:solidFill>
                <a:latin typeface="Arial Rounded"/>
                <a:ea typeface="Arial Rounded"/>
                <a:cs typeface="Arial Rounded"/>
                <a:sym typeface="Arial Rounded"/>
              </a:rPr>
              <a:t>Popular Product Lines: Among our product lines, "Classic Cars" stands out as the most</a:t>
            </a:r>
            <a:endParaRPr b="1" sz="1700">
              <a:solidFill>
                <a:schemeClr val="dk1"/>
              </a:solidFill>
              <a:latin typeface="Arial Rounded"/>
              <a:ea typeface="Arial Rounded"/>
              <a:cs typeface="Arial Rounded"/>
              <a:sym typeface="Arial Rounded"/>
            </a:endParaRPr>
          </a:p>
          <a:p>
            <a:pPr indent="0" lvl="0" marL="299085" marR="0" rtl="0" algn="just">
              <a:lnSpc>
                <a:spcPct val="100000"/>
              </a:lnSpc>
              <a:spcBef>
                <a:spcPts val="1010"/>
              </a:spcBef>
              <a:spcAft>
                <a:spcPts val="0"/>
              </a:spcAft>
              <a:buNone/>
            </a:pPr>
            <a:r>
              <a:rPr b="1" lang="en-US" sz="1700">
                <a:solidFill>
                  <a:schemeClr val="dk1"/>
                </a:solidFill>
                <a:latin typeface="Arial Rounded"/>
                <a:ea typeface="Arial Rounded"/>
                <a:cs typeface="Arial Rounded"/>
                <a:sym typeface="Arial Rounded"/>
              </a:rPr>
              <a:t>frequently ordered, closely followed by "Vintage Cars."</a:t>
            </a:r>
            <a:endParaRPr b="1" sz="1700">
              <a:solidFill>
                <a:schemeClr val="dk1"/>
              </a:solidFill>
              <a:latin typeface="Arial Rounded"/>
              <a:ea typeface="Arial Rounded"/>
              <a:cs typeface="Arial Rounded"/>
              <a:sym typeface="Arial Rounded"/>
            </a:endParaRPr>
          </a:p>
          <a:p>
            <a:pPr indent="-287019" lvl="0" marL="299085" marR="6350" rtl="0" algn="just">
              <a:lnSpc>
                <a:spcPct val="150000"/>
              </a:lnSpc>
              <a:spcBef>
                <a:spcPts val="15"/>
              </a:spcBef>
              <a:spcAft>
                <a:spcPts val="0"/>
              </a:spcAft>
              <a:buClr>
                <a:schemeClr val="dk1"/>
              </a:buClr>
              <a:buSzPts val="1700"/>
              <a:buFont typeface="Arial"/>
              <a:buChar char="•"/>
            </a:pPr>
            <a:r>
              <a:rPr b="1" lang="en-US" sz="1700">
                <a:solidFill>
                  <a:schemeClr val="dk1"/>
                </a:solidFill>
                <a:latin typeface="Arial Rounded"/>
                <a:ea typeface="Arial Rounded"/>
                <a:cs typeface="Arial Rounded"/>
                <a:sym typeface="Arial Rounded"/>
              </a:rPr>
              <a:t>Top-Selling Product: The product that has seen the highest number of orders from our  customers is the "1992 Ferrari 360 Spider Red," with the "1937 Lincoln Berline" as the runner-  up.</a:t>
            </a:r>
            <a:endParaRPr b="1" sz="1700">
              <a:solidFill>
                <a:schemeClr val="dk1"/>
              </a:solidFill>
              <a:latin typeface="Arial Rounded"/>
              <a:ea typeface="Arial Rounded"/>
              <a:cs typeface="Arial Rounded"/>
              <a:sym typeface="Arial Rounded"/>
            </a:endParaRPr>
          </a:p>
          <a:p>
            <a:pPr indent="-287019" lvl="0" marL="299085" marR="0" rtl="0" algn="just">
              <a:lnSpc>
                <a:spcPct val="100000"/>
              </a:lnSpc>
              <a:spcBef>
                <a:spcPts val="1055"/>
              </a:spcBef>
              <a:spcAft>
                <a:spcPts val="0"/>
              </a:spcAft>
              <a:buClr>
                <a:schemeClr val="dk1"/>
              </a:buClr>
              <a:buSzPts val="1700"/>
              <a:buFont typeface="Arial"/>
              <a:buChar char="•"/>
            </a:pPr>
            <a:r>
              <a:rPr b="1" lang="en-US" sz="1700">
                <a:solidFill>
                  <a:schemeClr val="dk1"/>
                </a:solidFill>
                <a:latin typeface="Arial Rounded"/>
                <a:ea typeface="Arial Rounded"/>
                <a:cs typeface="Arial Rounded"/>
                <a:sym typeface="Arial Rounded"/>
              </a:rPr>
              <a:t>Top Customers</a:t>
            </a:r>
            <a:r>
              <a:rPr b="1" lang="en-US" sz="1800">
                <a:solidFill>
                  <a:schemeClr val="dk1"/>
                </a:solidFill>
                <a:latin typeface="Arial Rounded"/>
                <a:ea typeface="Arial Rounded"/>
                <a:cs typeface="Arial Rounded"/>
                <a:sym typeface="Arial Rounded"/>
              </a:rPr>
              <a:t>: The "Euro+ Shopping Channel, "Mini Gifts Distributors Ltd.“ your top</a:t>
            </a:r>
            <a:endParaRPr b="1" sz="1800">
              <a:solidFill>
                <a:schemeClr val="dk1"/>
              </a:solidFill>
              <a:latin typeface="Arial Rounded"/>
              <a:ea typeface="Arial Rounded"/>
              <a:cs typeface="Arial Rounded"/>
              <a:sym typeface="Arial Rounded"/>
            </a:endParaRPr>
          </a:p>
          <a:p>
            <a:pPr indent="0" lvl="0" marL="299085" marR="0" rtl="0" algn="l">
              <a:lnSpc>
                <a:spcPct val="100000"/>
              </a:lnSpc>
              <a:spcBef>
                <a:spcPts val="1080"/>
              </a:spcBef>
              <a:spcAft>
                <a:spcPts val="0"/>
              </a:spcAft>
              <a:buNone/>
            </a:pPr>
            <a:r>
              <a:rPr b="1" lang="en-US" sz="1800">
                <a:solidFill>
                  <a:schemeClr val="dk1"/>
                </a:solidFill>
                <a:latin typeface="Arial Rounded"/>
                <a:ea typeface="Arial Rounded"/>
                <a:cs typeface="Arial Rounded"/>
                <a:sym typeface="Arial Rounded"/>
              </a:rPr>
              <a:t>customer.</a:t>
            </a:r>
            <a:endParaRPr b="1" sz="1800">
              <a:solidFill>
                <a:schemeClr val="dk1"/>
              </a:solidFill>
              <a:latin typeface="Arial Rounded"/>
              <a:ea typeface="Arial Rounded"/>
              <a:cs typeface="Arial Rounded"/>
              <a:sym typeface="Arial Rounded"/>
            </a:endParaRPr>
          </a:p>
          <a:p>
            <a:pPr indent="-287019" lvl="0" marL="299085" marR="0" rtl="0" algn="l">
              <a:lnSpc>
                <a:spcPct val="100000"/>
              </a:lnSpc>
              <a:spcBef>
                <a:spcPts val="1040"/>
              </a:spcBef>
              <a:spcAft>
                <a:spcPts val="0"/>
              </a:spcAft>
              <a:buClr>
                <a:schemeClr val="dk1"/>
              </a:buClr>
              <a:buSzPts val="1700"/>
              <a:buFont typeface="Arial"/>
              <a:buChar char="•"/>
            </a:pPr>
            <a:r>
              <a:rPr b="1" lang="en-US" sz="1700">
                <a:solidFill>
                  <a:schemeClr val="dk1"/>
                </a:solidFill>
                <a:latin typeface="Arial Rounded"/>
                <a:ea typeface="Arial Rounded"/>
                <a:cs typeface="Arial Rounded"/>
                <a:sym typeface="Arial Rounded"/>
              </a:rPr>
              <a:t>Top-Performing	Employee:	Gerard	Hernandez	from	our	Paris	office	has	demonstrated</a:t>
            </a:r>
            <a:endParaRPr b="1" sz="1700">
              <a:solidFill>
                <a:schemeClr val="dk1"/>
              </a:solidFill>
              <a:latin typeface="Arial Rounded"/>
              <a:ea typeface="Arial Rounded"/>
              <a:cs typeface="Arial Rounded"/>
              <a:sym typeface="Arial Rounded"/>
            </a:endParaRPr>
          </a:p>
          <a:p>
            <a:pPr indent="0" lvl="0" marL="299085" marR="0" rtl="0" algn="l">
              <a:lnSpc>
                <a:spcPct val="100000"/>
              </a:lnSpc>
              <a:spcBef>
                <a:spcPts val="1030"/>
              </a:spcBef>
              <a:spcAft>
                <a:spcPts val="0"/>
              </a:spcAft>
              <a:buNone/>
            </a:pPr>
            <a:r>
              <a:rPr b="1" lang="en-US" sz="1700">
                <a:solidFill>
                  <a:schemeClr val="dk1"/>
                </a:solidFill>
                <a:latin typeface="Arial Rounded"/>
                <a:ea typeface="Arial Rounded"/>
                <a:cs typeface="Arial Rounded"/>
                <a:sym typeface="Arial Rounded"/>
              </a:rPr>
              <a:t>exceptional promise as our most prolific employee, generating the highest number of orders.</a:t>
            </a:r>
            <a:endParaRPr b="1" sz="1700">
              <a:solidFill>
                <a:schemeClr val="dk1"/>
              </a:solidFill>
              <a:latin typeface="Arial Rounded"/>
              <a:ea typeface="Arial Rounded"/>
              <a:cs typeface="Arial Rounded"/>
              <a:sym typeface="Arial Rounded"/>
            </a:endParaRPr>
          </a:p>
        </p:txBody>
      </p:sp>
      <p:sp>
        <p:nvSpPr>
          <p:cNvPr id="234" name="Google Shape;234;p19"/>
          <p:cNvSpPr txBox="1"/>
          <p:nvPr>
            <p:ph type="title"/>
          </p:nvPr>
        </p:nvSpPr>
        <p:spPr>
          <a:xfrm>
            <a:off x="10022078" y="118694"/>
            <a:ext cx="1334770" cy="848994"/>
          </a:xfrm>
          <a:prstGeom prst="rect">
            <a:avLst/>
          </a:prstGeom>
          <a:noFill/>
          <a:ln>
            <a:noFill/>
          </a:ln>
        </p:spPr>
        <p:txBody>
          <a:bodyPr anchorCtr="0" anchor="t" bIns="0" lIns="0" spcFirstLastPara="1" rIns="0" wrap="square" tIns="12700">
            <a:spAutoFit/>
          </a:bodyPr>
          <a:lstStyle/>
          <a:p>
            <a:pPr indent="0" lvl="0" marL="38100" rtl="0" algn="l">
              <a:lnSpc>
                <a:spcPct val="100000"/>
              </a:lnSpc>
              <a:spcBef>
                <a:spcPts val="0"/>
              </a:spcBef>
              <a:spcAft>
                <a:spcPts val="0"/>
              </a:spcAft>
              <a:buNone/>
            </a:pPr>
            <a:r>
              <a:rPr lang="en-US"/>
              <a:t>C</a:t>
            </a:r>
            <a:r>
              <a:rPr baseline="30000" lang="en-US" sz="8100">
                <a:solidFill>
                  <a:srgbClr val="000000"/>
                </a:solidFill>
                <a:latin typeface="Arial"/>
                <a:ea typeface="Arial"/>
                <a:cs typeface="Arial"/>
                <a:sym typeface="Arial"/>
              </a:rPr>
              <a:t>A</a:t>
            </a:r>
            <a:r>
              <a:rPr lang="en-US" sz="1700"/>
              <a:t>lass</a:t>
            </a:r>
            <a:r>
              <a:rPr baseline="30000" lang="en-US" sz="6000">
                <a:solidFill>
                  <a:srgbClr val="000000"/>
                </a:solidFill>
                <a:latin typeface="Arial"/>
                <a:ea typeface="Arial"/>
                <a:cs typeface="Arial"/>
                <a:sym typeface="Arial"/>
              </a:rPr>
              <a:t>x</a:t>
            </a:r>
            <a:r>
              <a:rPr lang="en-US" sz="1700"/>
              <a:t>ic</a:t>
            </a:r>
            <a:r>
              <a:rPr baseline="30000" lang="en-US" sz="6000">
                <a:solidFill>
                  <a:srgbClr val="000000"/>
                </a:solidFill>
                <a:latin typeface="Arial"/>
                <a:ea typeface="Arial"/>
                <a:cs typeface="Arial"/>
                <a:sym typeface="Arial"/>
              </a:rPr>
              <a:t>o</a:t>
            </a:r>
            <a:r>
              <a:rPr lang="en-US" sz="1700"/>
              <a:t>ca</a:t>
            </a:r>
            <a:r>
              <a:rPr baseline="30000" lang="en-US" sz="6000">
                <a:solidFill>
                  <a:srgbClr val="000000"/>
                </a:solidFill>
                <a:latin typeface="Arial"/>
                <a:ea typeface="Arial"/>
                <a:cs typeface="Arial"/>
                <a:sym typeface="Arial"/>
              </a:rPr>
              <a:t>n</a:t>
            </a:r>
            <a:r>
              <a:rPr lang="en-US" sz="1700"/>
              <a:t>rs</a:t>
            </a:r>
            <a:endParaRPr sz="1700">
              <a:latin typeface="Arial"/>
              <a:ea typeface="Arial"/>
              <a:cs typeface="Arial"/>
              <a:sym typeface="Arial"/>
            </a:endParaRPr>
          </a:p>
        </p:txBody>
      </p:sp>
      <p:pic>
        <p:nvPicPr>
          <p:cNvPr id="235" name="Google Shape;235;p19"/>
          <p:cNvPicPr preferRelativeResize="0"/>
          <p:nvPr/>
        </p:nvPicPr>
        <p:blipFill rotWithShape="1">
          <a:blip r:embed="rId4">
            <a:alphaModFix/>
          </a:blip>
          <a:srcRect b="0" l="0" r="0" t="0"/>
          <a:stretch/>
        </p:blipFill>
        <p:spPr>
          <a:xfrm>
            <a:off x="10274807" y="0"/>
            <a:ext cx="1170431" cy="435863"/>
          </a:xfrm>
          <a:prstGeom prst="rect">
            <a:avLst/>
          </a:prstGeom>
          <a:noFill/>
          <a:ln>
            <a:noFill/>
          </a:ln>
        </p:spPr>
      </p:pic>
      <p:sp>
        <p:nvSpPr>
          <p:cNvPr id="236" name="Google Shape;236;p19"/>
          <p:cNvSpPr txBox="1"/>
          <p:nvPr/>
        </p:nvSpPr>
        <p:spPr>
          <a:xfrm>
            <a:off x="827024" y="753236"/>
            <a:ext cx="1797685" cy="5740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3600">
                <a:solidFill>
                  <a:srgbClr val="EC7C30"/>
                </a:solidFill>
                <a:latin typeface="Arial Rounded"/>
                <a:ea typeface="Arial Rounded"/>
                <a:cs typeface="Arial Rounded"/>
                <a:sym typeface="Arial Rounded"/>
              </a:rPr>
              <a:t>Insights</a:t>
            </a:r>
            <a:endParaRPr b="1" sz="3600">
              <a:solidFill>
                <a:schemeClr val="dk1"/>
              </a:solidFill>
              <a:latin typeface="Arial Rounded"/>
              <a:ea typeface="Arial Rounded"/>
              <a:cs typeface="Arial Rounded"/>
              <a:sym typeface="Arial Rounde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pic>
        <p:nvPicPr>
          <p:cNvPr id="241" name="Google Shape;241;p20"/>
          <p:cNvPicPr preferRelativeResize="0"/>
          <p:nvPr/>
        </p:nvPicPr>
        <p:blipFill rotWithShape="1">
          <a:blip r:embed="rId3">
            <a:alphaModFix/>
          </a:blip>
          <a:srcRect b="0" l="0" r="0" t="0"/>
          <a:stretch/>
        </p:blipFill>
        <p:spPr>
          <a:xfrm>
            <a:off x="582168" y="499872"/>
            <a:ext cx="11027664" cy="5687568"/>
          </a:xfrm>
          <a:prstGeom prst="rect">
            <a:avLst/>
          </a:prstGeom>
          <a:noFill/>
          <a:ln>
            <a:noFill/>
          </a:ln>
        </p:spPr>
      </p:pic>
      <p:sp>
        <p:nvSpPr>
          <p:cNvPr id="242" name="Google Shape;242;p20"/>
          <p:cNvSpPr txBox="1"/>
          <p:nvPr/>
        </p:nvSpPr>
        <p:spPr>
          <a:xfrm>
            <a:off x="746251" y="694181"/>
            <a:ext cx="3483610" cy="512445"/>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lang="en-US" sz="3200">
                <a:solidFill>
                  <a:srgbClr val="EC7C30"/>
                </a:solidFill>
                <a:latin typeface="Arial Rounded"/>
                <a:ea typeface="Arial Rounded"/>
                <a:cs typeface="Arial Rounded"/>
                <a:sym typeface="Arial Rounded"/>
              </a:rPr>
              <a:t>Recommendation</a:t>
            </a:r>
            <a:endParaRPr b="1" sz="3200">
              <a:solidFill>
                <a:schemeClr val="dk1"/>
              </a:solidFill>
              <a:latin typeface="Arial Rounded"/>
              <a:ea typeface="Arial Rounded"/>
              <a:cs typeface="Arial Rounded"/>
              <a:sym typeface="Arial Rounded"/>
            </a:endParaRPr>
          </a:p>
        </p:txBody>
      </p:sp>
      <p:sp>
        <p:nvSpPr>
          <p:cNvPr id="243" name="Google Shape;243;p20"/>
          <p:cNvSpPr txBox="1"/>
          <p:nvPr/>
        </p:nvSpPr>
        <p:spPr>
          <a:xfrm>
            <a:off x="662431" y="1290574"/>
            <a:ext cx="10709910" cy="4578985"/>
          </a:xfrm>
          <a:prstGeom prst="rect">
            <a:avLst/>
          </a:prstGeom>
          <a:noFill/>
          <a:ln>
            <a:noFill/>
          </a:ln>
        </p:spPr>
        <p:txBody>
          <a:bodyPr anchorCtr="0" anchor="t" bIns="0" lIns="0" spcFirstLastPara="1" rIns="0" wrap="square" tIns="13325">
            <a:spAutoFit/>
          </a:bodyPr>
          <a:lstStyle/>
          <a:p>
            <a:pPr indent="-287019" lvl="0" marL="299085" marR="8890" rtl="0" algn="just">
              <a:lnSpc>
                <a:spcPct val="100000"/>
              </a:lnSpc>
              <a:spcBef>
                <a:spcPts val="0"/>
              </a:spcBef>
              <a:spcAft>
                <a:spcPts val="0"/>
              </a:spcAft>
              <a:buClr>
                <a:schemeClr val="dk1"/>
              </a:buClr>
              <a:buSzPts val="1700"/>
              <a:buFont typeface="Arial"/>
              <a:buChar char="•"/>
            </a:pPr>
            <a:r>
              <a:rPr b="1" lang="en-US" sz="1700">
                <a:solidFill>
                  <a:schemeClr val="dk1"/>
                </a:solidFill>
                <a:latin typeface="Arial Rounded"/>
                <a:ea typeface="Arial Rounded"/>
                <a:cs typeface="Arial Rounded"/>
                <a:sym typeface="Arial Rounded"/>
              </a:rPr>
              <a:t>Market Expansion: While the USA is a significant market, consider leveraging the success in  Germany as a stepping-stone to further expand into European markets. Invest in marketing and  customer engagement strategies specifically tailored to European audiences to tap into this growth  potential.</a:t>
            </a:r>
            <a:endParaRPr b="1" sz="1700">
              <a:solidFill>
                <a:schemeClr val="dk1"/>
              </a:solidFill>
              <a:latin typeface="Arial Rounded"/>
              <a:ea typeface="Arial Rounded"/>
              <a:cs typeface="Arial Rounded"/>
              <a:sym typeface="Arial Rounded"/>
            </a:endParaRPr>
          </a:p>
          <a:p>
            <a:pPr indent="-287019" lvl="0" marL="299085" marR="9525" rtl="0" algn="just">
              <a:lnSpc>
                <a:spcPct val="100000"/>
              </a:lnSpc>
              <a:spcBef>
                <a:spcPts val="790"/>
              </a:spcBef>
              <a:spcAft>
                <a:spcPts val="0"/>
              </a:spcAft>
              <a:buClr>
                <a:schemeClr val="dk1"/>
              </a:buClr>
              <a:buSzPts val="1700"/>
              <a:buFont typeface="Arial"/>
              <a:buChar char="•"/>
            </a:pPr>
            <a:r>
              <a:rPr b="1" lang="en-US" sz="1700">
                <a:solidFill>
                  <a:schemeClr val="dk1"/>
                </a:solidFill>
                <a:latin typeface="Arial Rounded"/>
                <a:ea typeface="Arial Rounded"/>
                <a:cs typeface="Arial Rounded"/>
                <a:sym typeface="Arial Rounded"/>
              </a:rPr>
              <a:t>Product Line Expansion: Capitalize on the popularity of "Classic Cars" and "Vintage Cars" by  expanding these product lines. Introduce new models, variations, or related accessories to cater to  the existing customer interest and potentially attract new customers with similar preferences</a:t>
            </a:r>
            <a:endParaRPr b="1" sz="1700">
              <a:solidFill>
                <a:schemeClr val="dk1"/>
              </a:solidFill>
              <a:latin typeface="Arial Rounded"/>
              <a:ea typeface="Arial Rounded"/>
              <a:cs typeface="Arial Rounded"/>
              <a:sym typeface="Arial Rounded"/>
            </a:endParaRPr>
          </a:p>
          <a:p>
            <a:pPr indent="-287019" lvl="0" marL="299085" marR="8890" rtl="0" algn="just">
              <a:lnSpc>
                <a:spcPct val="100000"/>
              </a:lnSpc>
              <a:spcBef>
                <a:spcPts val="825"/>
              </a:spcBef>
              <a:spcAft>
                <a:spcPts val="0"/>
              </a:spcAft>
              <a:buClr>
                <a:schemeClr val="dk1"/>
              </a:buClr>
              <a:buSzPts val="1700"/>
              <a:buFont typeface="Arial"/>
              <a:buChar char="•"/>
            </a:pPr>
            <a:r>
              <a:rPr b="1" lang="en-US" sz="1700">
                <a:solidFill>
                  <a:schemeClr val="dk1"/>
                </a:solidFill>
                <a:latin typeface="Arial Rounded"/>
                <a:ea typeface="Arial Rounded"/>
                <a:cs typeface="Arial Rounded"/>
                <a:sym typeface="Arial Rounded"/>
              </a:rPr>
              <a:t>Promote Best-selling Products Focus marketing efforts on promoting the "1992 Ferrari 360 Spider  Red" and the "1937 Lincoln Berline" as top-selling products to maximize sales and customer  engagement.</a:t>
            </a:r>
            <a:endParaRPr b="1" sz="1700">
              <a:solidFill>
                <a:schemeClr val="dk1"/>
              </a:solidFill>
              <a:latin typeface="Arial Rounded"/>
              <a:ea typeface="Arial Rounded"/>
              <a:cs typeface="Arial Rounded"/>
              <a:sym typeface="Arial Rounded"/>
            </a:endParaRPr>
          </a:p>
          <a:p>
            <a:pPr indent="-287019" lvl="0" marL="299085" marR="0" rtl="0" algn="just">
              <a:lnSpc>
                <a:spcPct val="100000"/>
              </a:lnSpc>
              <a:spcBef>
                <a:spcPts val="790"/>
              </a:spcBef>
              <a:spcAft>
                <a:spcPts val="0"/>
              </a:spcAft>
              <a:buClr>
                <a:schemeClr val="dk1"/>
              </a:buClr>
              <a:buSzPts val="1700"/>
              <a:buFont typeface="Arial"/>
              <a:buChar char="•"/>
            </a:pPr>
            <a:r>
              <a:rPr b="1" lang="en-US" sz="1700">
                <a:solidFill>
                  <a:schemeClr val="dk1"/>
                </a:solidFill>
                <a:latin typeface="Arial Rounded"/>
                <a:ea typeface="Arial Rounded"/>
                <a:cs typeface="Arial Rounded"/>
                <a:sym typeface="Arial Rounded"/>
              </a:rPr>
              <a:t>Team Up with Vendors: Improve Partnerships with Successful Vendors such as 'Classic Metal</a:t>
            </a:r>
            <a:endParaRPr b="1" sz="1700">
              <a:solidFill>
                <a:schemeClr val="dk1"/>
              </a:solidFill>
              <a:latin typeface="Arial Rounded"/>
              <a:ea typeface="Arial Rounded"/>
              <a:cs typeface="Arial Rounded"/>
              <a:sym typeface="Arial Rounded"/>
            </a:endParaRPr>
          </a:p>
          <a:p>
            <a:pPr indent="0" lvl="0" marL="299085" marR="0" rtl="0" algn="just">
              <a:lnSpc>
                <a:spcPct val="100000"/>
              </a:lnSpc>
              <a:spcBef>
                <a:spcPts val="5"/>
              </a:spcBef>
              <a:spcAft>
                <a:spcPts val="0"/>
              </a:spcAft>
              <a:buNone/>
            </a:pPr>
            <a:r>
              <a:rPr b="1" lang="en-US" sz="1700">
                <a:solidFill>
                  <a:schemeClr val="dk1"/>
                </a:solidFill>
                <a:latin typeface="Arial Rounded"/>
                <a:ea typeface="Arial Rounded"/>
                <a:cs typeface="Arial Rounded"/>
                <a:sym typeface="Arial Rounded"/>
              </a:rPr>
              <a:t>Creations,' 'Motor City Art Classics,' and 'Carousel DieCast Legends' to Increase Sales.</a:t>
            </a:r>
            <a:endParaRPr b="1" sz="1700">
              <a:solidFill>
                <a:schemeClr val="dk1"/>
              </a:solidFill>
              <a:latin typeface="Arial Rounded"/>
              <a:ea typeface="Arial Rounded"/>
              <a:cs typeface="Arial Rounded"/>
              <a:sym typeface="Arial Rounded"/>
            </a:endParaRPr>
          </a:p>
          <a:p>
            <a:pPr indent="-287019" lvl="0" marL="299085" marR="5080" rtl="0" algn="just">
              <a:lnSpc>
                <a:spcPct val="100000"/>
              </a:lnSpc>
              <a:spcBef>
                <a:spcPts val="790"/>
              </a:spcBef>
              <a:spcAft>
                <a:spcPts val="0"/>
              </a:spcAft>
              <a:buClr>
                <a:schemeClr val="dk1"/>
              </a:buClr>
              <a:buSzPts val="1700"/>
              <a:buFont typeface="Arial"/>
              <a:buChar char="•"/>
            </a:pPr>
            <a:r>
              <a:rPr b="1" lang="en-US" sz="1700">
                <a:solidFill>
                  <a:schemeClr val="dk1"/>
                </a:solidFill>
                <a:latin typeface="Arial Rounded"/>
                <a:ea typeface="Arial Rounded"/>
                <a:cs typeface="Arial Rounded"/>
                <a:sym typeface="Arial Rounded"/>
              </a:rPr>
              <a:t>Employee Recognition and Development: Implement an employee recognition program to celebrate  and reward outstanding performance. This can boost morale and motivate all employees to excel.  Offer career development paths and opportunities for growth within the organization to retain top  talent and allow them to advance their careers</a:t>
            </a:r>
            <a:r>
              <a:rPr lang="en-US" sz="1700">
                <a:solidFill>
                  <a:schemeClr val="dk1"/>
                </a:solidFill>
                <a:latin typeface="Century Gothic"/>
                <a:ea typeface="Century Gothic"/>
                <a:cs typeface="Century Gothic"/>
                <a:sym typeface="Century Gothic"/>
              </a:rPr>
              <a:t>.</a:t>
            </a:r>
            <a:endParaRPr sz="1700">
              <a:solidFill>
                <a:schemeClr val="dk1"/>
              </a:solidFill>
              <a:latin typeface="Century Gothic"/>
              <a:ea typeface="Century Gothic"/>
              <a:cs typeface="Century Gothic"/>
              <a:sym typeface="Century Gothic"/>
            </a:endParaRPr>
          </a:p>
        </p:txBody>
      </p:sp>
      <p:sp>
        <p:nvSpPr>
          <p:cNvPr id="244" name="Google Shape;244;p20"/>
          <p:cNvSpPr txBox="1"/>
          <p:nvPr>
            <p:ph type="title"/>
          </p:nvPr>
        </p:nvSpPr>
        <p:spPr>
          <a:xfrm>
            <a:off x="10022078" y="118694"/>
            <a:ext cx="1334770" cy="848994"/>
          </a:xfrm>
          <a:prstGeom prst="rect">
            <a:avLst/>
          </a:prstGeom>
          <a:noFill/>
          <a:ln>
            <a:noFill/>
          </a:ln>
        </p:spPr>
        <p:txBody>
          <a:bodyPr anchorCtr="0" anchor="t" bIns="0" lIns="0" spcFirstLastPara="1" rIns="0" wrap="square" tIns="12700">
            <a:spAutoFit/>
          </a:bodyPr>
          <a:lstStyle/>
          <a:p>
            <a:pPr indent="0" lvl="0" marL="38100" rtl="0" algn="l">
              <a:lnSpc>
                <a:spcPct val="100000"/>
              </a:lnSpc>
              <a:spcBef>
                <a:spcPts val="0"/>
              </a:spcBef>
              <a:spcAft>
                <a:spcPts val="0"/>
              </a:spcAft>
              <a:buNone/>
            </a:pPr>
            <a:r>
              <a:rPr lang="en-US"/>
              <a:t>C</a:t>
            </a:r>
            <a:r>
              <a:rPr baseline="30000" lang="en-US" sz="8100">
                <a:solidFill>
                  <a:srgbClr val="000000"/>
                </a:solidFill>
                <a:latin typeface="Arial"/>
                <a:ea typeface="Arial"/>
                <a:cs typeface="Arial"/>
                <a:sym typeface="Arial"/>
              </a:rPr>
              <a:t>A</a:t>
            </a:r>
            <a:r>
              <a:rPr lang="en-US" sz="1700"/>
              <a:t>lass</a:t>
            </a:r>
            <a:r>
              <a:rPr baseline="30000" lang="en-US" sz="6000">
                <a:solidFill>
                  <a:srgbClr val="000000"/>
                </a:solidFill>
                <a:latin typeface="Arial"/>
                <a:ea typeface="Arial"/>
                <a:cs typeface="Arial"/>
                <a:sym typeface="Arial"/>
              </a:rPr>
              <a:t>x</a:t>
            </a:r>
            <a:r>
              <a:rPr lang="en-US" sz="1700"/>
              <a:t>ic</a:t>
            </a:r>
            <a:r>
              <a:rPr baseline="30000" lang="en-US" sz="6000">
                <a:solidFill>
                  <a:srgbClr val="000000"/>
                </a:solidFill>
                <a:latin typeface="Arial"/>
                <a:ea typeface="Arial"/>
                <a:cs typeface="Arial"/>
                <a:sym typeface="Arial"/>
              </a:rPr>
              <a:t>o</a:t>
            </a:r>
            <a:r>
              <a:rPr lang="en-US" sz="1700"/>
              <a:t>ca</a:t>
            </a:r>
            <a:r>
              <a:rPr baseline="30000" lang="en-US" sz="6000">
                <a:solidFill>
                  <a:srgbClr val="000000"/>
                </a:solidFill>
                <a:latin typeface="Arial"/>
                <a:ea typeface="Arial"/>
                <a:cs typeface="Arial"/>
                <a:sym typeface="Arial"/>
              </a:rPr>
              <a:t>n</a:t>
            </a:r>
            <a:r>
              <a:rPr lang="en-US" sz="1700"/>
              <a:t>rs</a:t>
            </a:r>
            <a:endParaRPr sz="1700">
              <a:latin typeface="Arial"/>
              <a:ea typeface="Arial"/>
              <a:cs typeface="Arial"/>
              <a:sym typeface="Arial"/>
            </a:endParaRPr>
          </a:p>
        </p:txBody>
      </p:sp>
      <p:pic>
        <p:nvPicPr>
          <p:cNvPr id="245" name="Google Shape;245;p20"/>
          <p:cNvPicPr preferRelativeResize="0"/>
          <p:nvPr/>
        </p:nvPicPr>
        <p:blipFill rotWithShape="1">
          <a:blip r:embed="rId4">
            <a:alphaModFix/>
          </a:blip>
          <a:srcRect b="0" l="0" r="0" t="0"/>
          <a:stretch/>
        </p:blipFill>
        <p:spPr>
          <a:xfrm>
            <a:off x="10274807" y="0"/>
            <a:ext cx="1170431" cy="43586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9" name="Shape 249"/>
        <p:cNvGrpSpPr/>
        <p:nvPr/>
      </p:nvGrpSpPr>
      <p:grpSpPr>
        <a:xfrm>
          <a:off x="0" y="0"/>
          <a:ext cx="0" cy="0"/>
          <a:chOff x="0" y="0"/>
          <a:chExt cx="0" cy="0"/>
        </a:xfrm>
      </p:grpSpPr>
      <p:grpSp>
        <p:nvGrpSpPr>
          <p:cNvPr id="250" name="Google Shape;250;p21"/>
          <p:cNvGrpSpPr/>
          <p:nvPr/>
        </p:nvGrpSpPr>
        <p:grpSpPr>
          <a:xfrm>
            <a:off x="582168" y="499872"/>
            <a:ext cx="11609832" cy="5687568"/>
            <a:chOff x="582168" y="499872"/>
            <a:chExt cx="11609832" cy="5687568"/>
          </a:xfrm>
        </p:grpSpPr>
        <p:pic>
          <p:nvPicPr>
            <p:cNvPr id="251" name="Google Shape;251;p21"/>
            <p:cNvPicPr preferRelativeResize="0"/>
            <p:nvPr/>
          </p:nvPicPr>
          <p:blipFill rotWithShape="1">
            <a:blip r:embed="rId3">
              <a:alphaModFix/>
            </a:blip>
            <a:srcRect b="0" l="0" r="0" t="0"/>
            <a:stretch/>
          </p:blipFill>
          <p:spPr>
            <a:xfrm>
              <a:off x="582168" y="499872"/>
              <a:ext cx="11027664" cy="5687568"/>
            </a:xfrm>
            <a:prstGeom prst="rect">
              <a:avLst/>
            </a:prstGeom>
            <a:noFill/>
            <a:ln>
              <a:noFill/>
            </a:ln>
          </p:spPr>
        </p:pic>
        <p:sp>
          <p:nvSpPr>
            <p:cNvPr id="252" name="Google Shape;252;p21"/>
            <p:cNvSpPr/>
            <p:nvPr/>
          </p:nvSpPr>
          <p:spPr>
            <a:xfrm>
              <a:off x="5172456" y="670560"/>
              <a:ext cx="3496310" cy="1155700"/>
            </a:xfrm>
            <a:custGeom>
              <a:rect b="b" l="l" r="r" t="t"/>
              <a:pathLst>
                <a:path extrusionOk="0" h="1155700" w="3496309">
                  <a:moveTo>
                    <a:pt x="3025648" y="0"/>
                  </a:moveTo>
                  <a:lnTo>
                    <a:pt x="0" y="0"/>
                  </a:lnTo>
                  <a:lnTo>
                    <a:pt x="0" y="1155191"/>
                  </a:lnTo>
                  <a:lnTo>
                    <a:pt x="3496055" y="1155191"/>
                  </a:lnTo>
                  <a:lnTo>
                    <a:pt x="3025648"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 name="Google Shape;253;p21"/>
            <p:cNvSpPr/>
            <p:nvPr/>
          </p:nvSpPr>
          <p:spPr>
            <a:xfrm>
              <a:off x="8138160" y="670560"/>
              <a:ext cx="4053840" cy="1155700"/>
            </a:xfrm>
            <a:custGeom>
              <a:rect b="b" l="l" r="r" t="t"/>
              <a:pathLst>
                <a:path extrusionOk="0" h="1155700" w="4053840">
                  <a:moveTo>
                    <a:pt x="4053840" y="0"/>
                  </a:moveTo>
                  <a:lnTo>
                    <a:pt x="0" y="0"/>
                  </a:lnTo>
                  <a:lnTo>
                    <a:pt x="475615" y="1155191"/>
                  </a:lnTo>
                  <a:lnTo>
                    <a:pt x="4053840" y="1155191"/>
                  </a:lnTo>
                  <a:lnTo>
                    <a:pt x="4053840" y="0"/>
                  </a:lnTo>
                  <a:close/>
                </a:path>
              </a:pathLst>
            </a:custGeom>
            <a:solidFill>
              <a:srgbClr val="FFD2A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54" name="Google Shape;254;p21"/>
            <p:cNvPicPr preferRelativeResize="0"/>
            <p:nvPr/>
          </p:nvPicPr>
          <p:blipFill rotWithShape="1">
            <a:blip r:embed="rId4">
              <a:alphaModFix/>
            </a:blip>
            <a:srcRect b="0" l="0" r="0" t="0"/>
            <a:stretch/>
          </p:blipFill>
          <p:spPr>
            <a:xfrm>
              <a:off x="5504688" y="633984"/>
              <a:ext cx="3204844" cy="1510030"/>
            </a:xfrm>
            <a:prstGeom prst="rect">
              <a:avLst/>
            </a:prstGeom>
            <a:noFill/>
            <a:ln>
              <a:noFill/>
            </a:ln>
          </p:spPr>
        </p:pic>
        <p:pic>
          <p:nvPicPr>
            <p:cNvPr id="255" name="Google Shape;255;p21"/>
            <p:cNvPicPr preferRelativeResize="0"/>
            <p:nvPr/>
          </p:nvPicPr>
          <p:blipFill rotWithShape="1">
            <a:blip r:embed="rId5">
              <a:alphaModFix/>
            </a:blip>
            <a:srcRect b="0" l="0" r="0" t="0"/>
            <a:stretch/>
          </p:blipFill>
          <p:spPr>
            <a:xfrm>
              <a:off x="8119872" y="633984"/>
              <a:ext cx="2214245" cy="1510030"/>
            </a:xfrm>
            <a:prstGeom prst="rect">
              <a:avLst/>
            </a:prstGeom>
            <a:noFill/>
            <a:ln>
              <a:noFill/>
            </a:ln>
          </p:spPr>
        </p:pic>
      </p:grpSp>
      <p:sp>
        <p:nvSpPr>
          <p:cNvPr id="256" name="Google Shape;256;p21"/>
          <p:cNvSpPr txBox="1"/>
          <p:nvPr>
            <p:ph type="title"/>
          </p:nvPr>
        </p:nvSpPr>
        <p:spPr>
          <a:xfrm>
            <a:off x="5920485" y="824560"/>
            <a:ext cx="3966210" cy="848994"/>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5400">
                <a:solidFill>
                  <a:srgbClr val="EC7C30"/>
                </a:solidFill>
                <a:latin typeface="Cambria"/>
                <a:ea typeface="Cambria"/>
                <a:cs typeface="Cambria"/>
                <a:sym typeface="Cambria"/>
              </a:rPr>
              <a:t>THANK	YOU</a:t>
            </a:r>
            <a:endParaRPr sz="5400">
              <a:latin typeface="Cambria"/>
              <a:ea typeface="Cambria"/>
              <a:cs typeface="Cambria"/>
              <a:sym typeface="Cambria"/>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2024-01-01T14:58:06Z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2023-11-27T00:00:00Z</vt:filetime>
  </property>
  <property fmtid="{D5CDD505-2E9C-101B-9397-08002B2CF9AE}" pid="3" name="Creator">
    <vt:lpwstr>Microsoft® PowerPoint® 2016</vt:lpwstr>
  </property>
  <property fmtid="{D5CDD505-2E9C-101B-9397-08002B2CF9AE}" pid="4" name="LastSaved">
    <vt:filetime>2024-01-01T00:00:00Z</vt:filetime>
  </property>
</Properties>
</file>